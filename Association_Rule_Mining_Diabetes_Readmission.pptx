
<file path=[Content_Types].xml><?xml version="1.0" encoding="utf-8"?>
<Types xmlns="http://schemas.openxmlformats.org/package/2006/content-types">
  <Default Extension="png" ContentType="image/png"/>
  <Default Extension="rels" ContentType="application/vnd.openxmlformats-package.relationships+xml"/>
  <Default Extension="tmp"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71" r:id="rId12"/>
    <p:sldId id="266" r:id="rId13"/>
    <p:sldId id="267" r:id="rId14"/>
    <p:sldId id="268" r:id="rId15"/>
    <p:sldId id="269" r:id="rId16"/>
    <p:sldId id="270" r:id="rId17"/>
    <p:sldId id="272" r:id="rId1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FEFEF"/>
    <a:srgbClr val="0B2545"/>
    <a:srgbClr val="98A5B2"/>
    <a:srgbClr val="028090"/>
    <a:srgbClr val="00A89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75" d="100"/>
          <a:sy n="75" d="100"/>
        </p:scale>
        <p:origin x="946" y="5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896681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the audience. Introduce yourself, the course, and the project title. State in one sentence what the project is about: using association rule mining to discover patterns linked to early hospital readmission in diabetic patients. Mention this is a 15-minute walkthrough of the dataset, method, and findings.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the goal is not prediction or causation, but discovering useful patterns. We are not building a model to predict who gets readmitted — we are mining the data to find which combinations of factors tend to occur together with early readmission.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dataset: Diabetes 130-US Hospitals, covering ten years of diabetic patient encounters across many U.S. hospitals, from the UCI Machine Learning Repository. Each row is one hospital encounter. The dataset includes hospital stay details, lab results, medications, and readmission outcomes.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market-basket analogy: each hospital encounter is treated as one basket. The items inside that basket are categorized patient and hospital attributes. The outcome we focus on is whether the patient was readmitted within 30 days. Walk through the example: a high number of prior inpatient visits combined with a missing A1C result tends to co-occur with early readmission.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preprocessing briefly. We kept healthcare-relevant variables, set identifiers and code-heavy fields aside as meta data, removed rare individual medication columns because they created unhelpful 'no medication' rules, and discretized numeric fields into three equal-frequency categories so they could be mined as items.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Orange Canvas pipeline shown in the screenshot. The File widget loaded the dataset. Select Columns kept the useful healthcare variables. Discretize converted numeric variables into categories. From there the workflow branched: Frequent Itemsets was used to explore common item combinations, while Association Rules generated the final if-then rules tied to early readmission. [PRESENTER NOTE: Replace the placeholder box on this slide with your actual Orange Canvas workflow screenshot before presenting.]</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Briefly define the three metrics used to evaluate rules. Support tells us how common the pattern is. Confidence tells us how reliable the rule is — when the left side is true, how often does early readmission follow. Lift tells us how much stronger this association is compared to what we'd expect by random chance.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these settings gave a small, interpretable rule set. Stricter support and confidence thresholds did not return useful early-readmission rules, so we settled on 2% minimum support and 20% minimum confidence, with up to three antecedent items, which produced ten focused, explainable rules. [PRESENTER NOTE: Replace the placeholder box on this slide with a small cropped screenshot of the Association Rules widget showing these settings and the 10 results.]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 the three rules with the highest lift, meaning the strongest association relative to chance. All three center on patients with one and a half or more prior inpatient visits, combined with a missing A1C result, and in the second rule, also being on diabetes medication. [PRESENTER NOTE: Replace the placeholder box with a cropped screenshot of the Orange results sorted by Lift, showing just the top rules.]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rules balance support and confidence — they are common enough to matter and reliable enough to trust. Note the consistency: every top rule includes a high count of prior inpatient visits, sometimes paired with a missing glucose or A1C result. [PRESENTER NOTE: If space allows, add a small cropped screenshot of the Orange results sorted by Support/Confidence below the table — keep it small so the table stays the focus.]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C7C1D2-C25A-B09E-A7BC-40E4410384C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812C5E-BB13-E283-8BCF-6A5006BB251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E1C81D-02AB-7CA2-2BF3-1AC23D46EF93}"/>
              </a:ext>
            </a:extLst>
          </p:cNvPr>
          <p:cNvSpPr>
            <a:spLocks noGrp="1"/>
          </p:cNvSpPr>
          <p:nvPr>
            <p:ph type="body" idx="1"/>
          </p:nvPr>
        </p:nvSpPr>
        <p:spPr/>
        <p:txBody>
          <a:bodyPr/>
          <a:lstStyle/>
          <a:p>
            <a:r>
              <a:rPr lang="en-US" dirty="0"/>
              <a:t>These rules balance support and confidence — they are common enough to matter and reliable enough to trust. Note the consistency: every top rule includes a high count of prior inpatient visits, sometimes paired with a missing glucose or A1C result. [PRESENTER NOTE: If space allows, add a small cropped screenshot of the Orange results sorted by Support/Confidence below the table — keep it small so the table stays the focus.]</a:t>
            </a:r>
          </a:p>
        </p:txBody>
      </p:sp>
      <p:sp>
        <p:nvSpPr>
          <p:cNvPr id="4" name="Slide Number Placeholder 3">
            <a:extLst>
              <a:ext uri="{FF2B5EF4-FFF2-40B4-BE49-F238E27FC236}">
                <a16:creationId xmlns:a16="http://schemas.microsoft.com/office/drawing/2014/main" id="{F34CDD74-632D-4448-11F9-F3C02C5D64B5}"/>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86475951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Highlight why these three were selected as the best overall rules: they are simple, interpretable, statistically meaningful, and clinically sensible. Each builds on the last — starting from prior inpatient visits alone, then adding a missing A1C result, then adding active diabetes medication.</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practical value slide. Explain that the value of these rules is not just statistical — hospitals could use these patterns as decision-support signals to identify patients who may need extra follow-up, medication review, diabetes education, or care coordination before or after discharge.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upfront about limitations. These rules show association, not medical causation. The dataset is historical, from 1999 to 2008. Missing lab results may reflect documentation gaps rather than lack of care. These rules should support clinical decision-making, not replace it, and more validation would be needed before real clinical use.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Summarize the project. The strongest pattern was prior inpatient history. Missing A1C or glucose serum results added useful context, possibly pointing to monitoring gaps. These rules can support follow-up and discharge planning, and the best rules we found were simple, interpretable, and actionable — exactly what's needed for real hospital decision-support.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the audience and offer to answer any questions about the dataset, methodology, or findings.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DE43A0-9D3A-E24B-28F5-D6581B06FA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77CC2E-F501-E2C0-F511-0BA7E6D545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875D8C8-8873-2309-7034-0BF252C77181}"/>
              </a:ext>
            </a:extLst>
          </p:cNvPr>
          <p:cNvSpPr>
            <a:spLocks noGrp="1"/>
          </p:cNvSpPr>
          <p:nvPr>
            <p:ph type="body" idx="1"/>
          </p:nvPr>
        </p:nvSpPr>
        <p:spPr/>
        <p:txBody>
          <a:bodyPr/>
          <a:lstStyle/>
          <a:p>
            <a:r>
              <a:rPr lang="en-US" dirty="0"/>
              <a:t>Summarize the project. The strongest pattern was prior inpatient history. Missing A1C or glucose serum results added useful context, possibly pointing to monitoring gaps. These rules can support follow-up and discharge planning, and the best rules we found were simple, interpretable, and actionable — exactly what's needed for real hospital decision-support.</a:t>
            </a:r>
          </a:p>
        </p:txBody>
      </p:sp>
      <p:sp>
        <p:nvSpPr>
          <p:cNvPr id="4" name="Slide Number Placeholder 3">
            <a:extLst>
              <a:ext uri="{FF2B5EF4-FFF2-40B4-BE49-F238E27FC236}">
                <a16:creationId xmlns:a16="http://schemas.microsoft.com/office/drawing/2014/main" id="{BD83F4FD-A909-4C14-AE2A-C25B90DB950F}"/>
              </a:ext>
            </a:extLst>
          </p:cNvPr>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36122895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 Id="rId9"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3.png"/><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19.png"/><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image" Target="../media/image22.png"/><Relationship Id="rId4" Type="http://schemas.openxmlformats.org/officeDocument/2006/relationships/image" Target="../media/image21.png"/></Relationships>
</file>

<file path=ppt/slides/_rels/slide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23.tmp"/><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25.png"/><Relationship Id="rId5" Type="http://schemas.openxmlformats.org/officeDocument/2006/relationships/image" Target="../media/image1.png"/><Relationship Id="rId4" Type="http://schemas.openxmlformats.org/officeDocument/2006/relationships/image" Target="../media/image24.png"/></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26.png"/><Relationship Id="rId4" Type="http://schemas.openxmlformats.org/officeDocument/2006/relationships/image" Target="../media/image1.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27.png"/></Relationships>
</file>

<file path=ppt/slides/_rels/slide1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image" Target="../media/image10.png"/><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image" Target="../media/image1.png"/><Relationship Id="rId7" Type="http://schemas.openxmlformats.org/officeDocument/2006/relationships/image" Target="../media/image32.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14.xml.rels><?xml version="1.0" encoding="UTF-8" standalone="yes"?>
<Relationships xmlns="http://schemas.openxmlformats.org/package/2006/relationships"><Relationship Id="rId3" Type="http://schemas.openxmlformats.org/officeDocument/2006/relationships/image" Target="../media/image22.png"/><Relationship Id="rId7"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16.png"/><Relationship Id="rId4" Type="http://schemas.openxmlformats.org/officeDocument/2006/relationships/image" Target="../media/image34.png"/></Relationships>
</file>

<file path=ppt/slides/_rels/slide15.xml.rels><?xml version="1.0" encoding="UTF-8" standalone="yes"?>
<Relationships xmlns="http://schemas.openxmlformats.org/package/2006/relationships"><Relationship Id="rId3" Type="http://schemas.openxmlformats.org/officeDocument/2006/relationships/image" Target="../media/image35.png"/><Relationship Id="rId7"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37.png"/><Relationship Id="rId5" Type="http://schemas.openxmlformats.org/officeDocument/2006/relationships/image" Target="../media/image30.png"/><Relationship Id="rId4" Type="http://schemas.openxmlformats.org/officeDocument/2006/relationships/image" Target="../media/image36.png"/></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image" Target="../media/image38.png"/><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545"/>
        </a:solidFill>
        <a:effectLst/>
      </p:bgPr>
    </p:bg>
    <p:spTree>
      <p:nvGrpSpPr>
        <p:cNvPr id="1" name=""/>
        <p:cNvGrpSpPr/>
        <p:nvPr/>
      </p:nvGrpSpPr>
      <p:grpSpPr>
        <a:xfrm>
          <a:off x="0" y="0"/>
          <a:ext cx="0" cy="0"/>
          <a:chOff x="0" y="0"/>
          <a:chExt cx="0" cy="0"/>
        </a:xfrm>
      </p:grpSpPr>
      <p:pic>
        <p:nvPicPr>
          <p:cNvPr id="2" name="Image 0" descr="assets/ribbon_real_cropped.png"/>
          <p:cNvPicPr>
            <a:picLocks noChangeAspect="1"/>
          </p:cNvPicPr>
          <p:nvPr/>
        </p:nvPicPr>
        <p:blipFill>
          <a:blip r:embed="rId3">
            <a:alphaModFix amt="17000"/>
          </a:blip>
          <a:stretch>
            <a:fillRect/>
          </a:stretch>
        </p:blipFill>
        <p:spPr>
          <a:xfrm>
            <a:off x="3999049" y="173108"/>
            <a:ext cx="3867256" cy="6603223"/>
          </a:xfrm>
          <a:prstGeom prst="rect">
            <a:avLst/>
          </a:prstGeom>
        </p:spPr>
      </p:pic>
      <p:sp>
        <p:nvSpPr>
          <p:cNvPr id="4" name="Text 0"/>
          <p:cNvSpPr/>
          <p:nvPr/>
        </p:nvSpPr>
        <p:spPr>
          <a:xfrm>
            <a:off x="822960" y="1783080"/>
            <a:ext cx="10515600" cy="457200"/>
          </a:xfrm>
          <a:prstGeom prst="rect">
            <a:avLst/>
          </a:prstGeom>
          <a:noFill/>
          <a:ln/>
        </p:spPr>
        <p:txBody>
          <a:bodyPr wrap="square" lIns="0" tIns="0" rIns="0" bIns="0" rtlCol="0" anchor="ctr"/>
          <a:lstStyle/>
          <a:p>
            <a:pPr marL="0" indent="0" algn="ctr">
              <a:buNone/>
            </a:pPr>
            <a:r>
              <a:rPr lang="en-US" sz="1500" b="1" kern="0" spc="300" dirty="0">
                <a:solidFill>
                  <a:srgbClr val="02C39A"/>
                </a:solidFill>
                <a:latin typeface="Calibri" pitchFamily="34" charset="0"/>
                <a:ea typeface="Calibri" pitchFamily="34" charset="-122"/>
                <a:cs typeface="Calibri" pitchFamily="34" charset="-120"/>
              </a:rPr>
              <a:t>ASSOCIATION RULE MINING</a:t>
            </a:r>
            <a:endParaRPr lang="en-US" sz="1500" dirty="0"/>
          </a:p>
        </p:txBody>
      </p:sp>
      <p:sp>
        <p:nvSpPr>
          <p:cNvPr id="5" name="Text 1"/>
          <p:cNvSpPr/>
          <p:nvPr/>
        </p:nvSpPr>
        <p:spPr>
          <a:xfrm>
            <a:off x="822960" y="2240280"/>
            <a:ext cx="10058400" cy="1371600"/>
          </a:xfrm>
          <a:prstGeom prst="rect">
            <a:avLst/>
          </a:prstGeom>
          <a:noFill/>
          <a:ln/>
        </p:spPr>
        <p:txBody>
          <a:bodyPr wrap="square" lIns="0" tIns="0" rIns="0" bIns="0" rtlCol="0" anchor="ctr"/>
          <a:lstStyle/>
          <a:p>
            <a:pPr marL="0" indent="0" algn="ctr">
              <a:buNone/>
            </a:pPr>
            <a:r>
              <a:rPr lang="en-US" sz="4000" b="1" dirty="0">
                <a:solidFill>
                  <a:srgbClr val="FFFFFF"/>
                </a:solidFill>
                <a:latin typeface="Cambria" pitchFamily="34" charset="0"/>
                <a:ea typeface="Cambria" pitchFamily="34" charset="-122"/>
                <a:cs typeface="Cambria" pitchFamily="34" charset="-120"/>
              </a:rPr>
              <a:t>Diabetes Hospital Readmission Patterns</a:t>
            </a:r>
            <a:endParaRPr lang="en-US" sz="4000" dirty="0"/>
          </a:p>
        </p:txBody>
      </p:sp>
      <p:sp>
        <p:nvSpPr>
          <p:cNvPr id="6" name="Text 2"/>
          <p:cNvSpPr/>
          <p:nvPr/>
        </p:nvSpPr>
        <p:spPr>
          <a:xfrm>
            <a:off x="822960" y="3246120"/>
            <a:ext cx="9601200" cy="457200"/>
          </a:xfrm>
          <a:prstGeom prst="rect">
            <a:avLst/>
          </a:prstGeom>
          <a:noFill/>
          <a:ln/>
        </p:spPr>
        <p:txBody>
          <a:bodyPr wrap="square" lIns="0" tIns="0" rIns="0" bIns="0" rtlCol="0" anchor="ctr"/>
          <a:lstStyle/>
          <a:p>
            <a:pPr marL="0" indent="0" algn="ctr">
              <a:buNone/>
            </a:pPr>
            <a:r>
              <a:rPr lang="en-US" sz="1700" i="1" dirty="0">
                <a:solidFill>
                  <a:srgbClr val="C9DDE0"/>
                </a:solidFill>
                <a:latin typeface="Calibri" pitchFamily="34" charset="0"/>
                <a:ea typeface="Calibri" pitchFamily="34" charset="-122"/>
                <a:cs typeface="Calibri" pitchFamily="34" charset="-120"/>
              </a:rPr>
              <a:t>Healthcare Pattern Discovery Using Orange Canvas</a:t>
            </a:r>
            <a:endParaRPr lang="en-US" sz="1700" dirty="0"/>
          </a:p>
        </p:txBody>
      </p:sp>
      <p:grpSp>
        <p:nvGrpSpPr>
          <p:cNvPr id="11" name="Group 10">
            <a:extLst>
              <a:ext uri="{FF2B5EF4-FFF2-40B4-BE49-F238E27FC236}">
                <a16:creationId xmlns:a16="http://schemas.microsoft.com/office/drawing/2014/main" id="{26F6D597-396C-8DFC-211A-5D5AF36199F3}"/>
              </a:ext>
            </a:extLst>
          </p:cNvPr>
          <p:cNvGrpSpPr/>
          <p:nvPr/>
        </p:nvGrpSpPr>
        <p:grpSpPr>
          <a:xfrm>
            <a:off x="5745225" y="4022495"/>
            <a:ext cx="374904" cy="64008"/>
            <a:chOff x="868680" y="3977640"/>
            <a:chExt cx="374904" cy="64008"/>
          </a:xfrm>
        </p:grpSpPr>
        <p:sp>
          <p:nvSpPr>
            <p:cNvPr id="7" name="Shape 3"/>
            <p:cNvSpPr/>
            <p:nvPr/>
          </p:nvSpPr>
          <p:spPr>
            <a:xfrm>
              <a:off x="868680" y="3977640"/>
              <a:ext cx="64008" cy="64008"/>
            </a:xfrm>
            <a:prstGeom prst="ellipse">
              <a:avLst/>
            </a:prstGeom>
            <a:solidFill>
              <a:srgbClr val="00A896"/>
            </a:solidFill>
            <a:ln/>
          </p:spPr>
        </p:sp>
        <p:sp>
          <p:nvSpPr>
            <p:cNvPr id="8" name="Shape 4"/>
            <p:cNvSpPr/>
            <p:nvPr/>
          </p:nvSpPr>
          <p:spPr>
            <a:xfrm>
              <a:off x="1024128" y="3977640"/>
              <a:ext cx="64008" cy="64008"/>
            </a:xfrm>
            <a:prstGeom prst="ellipse">
              <a:avLst/>
            </a:prstGeom>
            <a:solidFill>
              <a:srgbClr val="028090"/>
            </a:solidFill>
            <a:ln/>
          </p:spPr>
        </p:sp>
        <p:sp>
          <p:nvSpPr>
            <p:cNvPr id="9" name="Shape 5"/>
            <p:cNvSpPr/>
            <p:nvPr/>
          </p:nvSpPr>
          <p:spPr>
            <a:xfrm>
              <a:off x="1179576" y="3977640"/>
              <a:ext cx="64008" cy="64008"/>
            </a:xfrm>
            <a:prstGeom prst="ellipse">
              <a:avLst/>
            </a:prstGeom>
            <a:solidFill>
              <a:srgbClr val="02C39A"/>
            </a:solidFill>
            <a:ln/>
          </p:spPr>
        </p:sp>
      </p:grpSp>
      <p:sp>
        <p:nvSpPr>
          <p:cNvPr id="10" name="Text 6"/>
          <p:cNvSpPr/>
          <p:nvPr/>
        </p:nvSpPr>
        <p:spPr>
          <a:xfrm>
            <a:off x="2700273" y="4652566"/>
            <a:ext cx="6400800" cy="1216866"/>
          </a:xfrm>
          <a:prstGeom prst="rect">
            <a:avLst/>
          </a:prstGeom>
          <a:noFill/>
          <a:ln/>
        </p:spPr>
        <p:txBody>
          <a:bodyPr wrap="square" lIns="0" tIns="0" rIns="0" bIns="0" rtlCol="0" anchor="ctr"/>
          <a:lstStyle/>
          <a:p>
            <a:pPr marL="0" indent="0" algn="ctr">
              <a:lnSpc>
                <a:spcPct val="135000"/>
              </a:lnSpc>
              <a:buNone/>
            </a:pPr>
            <a:r>
              <a:rPr lang="en-US" sz="2000" b="1" dirty="0">
                <a:solidFill>
                  <a:srgbClr val="FFFFFF"/>
                </a:solidFill>
                <a:latin typeface="Calibri" pitchFamily="34" charset="0"/>
                <a:ea typeface="Calibri" pitchFamily="34" charset="-122"/>
                <a:cs typeface="Calibri" pitchFamily="34" charset="-120"/>
              </a:rPr>
              <a:t>Rakshan Urooj Syed</a:t>
            </a:r>
            <a:endParaRPr lang="en-US" sz="2000" dirty="0"/>
          </a:p>
          <a:p>
            <a:pPr marL="0" indent="0" algn="ctr">
              <a:lnSpc>
                <a:spcPct val="135000"/>
              </a:lnSpc>
              <a:buNone/>
            </a:pPr>
            <a:r>
              <a:rPr lang="en-US" sz="2000" b="1" dirty="0">
                <a:solidFill>
                  <a:schemeClr val="bg1">
                    <a:lumMod val="95000"/>
                  </a:schemeClr>
                </a:solidFill>
                <a:latin typeface="Calibri" pitchFamily="34" charset="0"/>
                <a:ea typeface="Calibri" pitchFamily="34" charset="-122"/>
                <a:cs typeface="Calibri" pitchFamily="34" charset="-120"/>
              </a:rPr>
              <a:t>Data Mining and Predictive Analytics</a:t>
            </a:r>
            <a:endParaRPr lang="en-US" sz="2000" dirty="0">
              <a:solidFill>
                <a:schemeClr val="bg1">
                  <a:lumMod val="95000"/>
                </a:schemeClr>
              </a:solidFill>
            </a:endParaRPr>
          </a:p>
          <a:p>
            <a:pPr marL="0" indent="0" algn="ctr">
              <a:lnSpc>
                <a:spcPct val="135000"/>
              </a:lnSpc>
              <a:buNone/>
            </a:pPr>
            <a:r>
              <a:rPr lang="en-US" sz="2000" b="1" dirty="0">
                <a:solidFill>
                  <a:schemeClr val="bg1">
                    <a:lumMod val="95000"/>
                  </a:schemeClr>
                </a:solidFill>
                <a:latin typeface="Calibri" pitchFamily="34" charset="0"/>
                <a:ea typeface="Calibri" pitchFamily="34" charset="-122"/>
                <a:cs typeface="Calibri" pitchFamily="34" charset="-120"/>
              </a:rPr>
              <a:t>Piotr Szczurek</a:t>
            </a:r>
            <a:endParaRPr lang="en-US" sz="2000" dirty="0">
              <a:solidFill>
                <a:schemeClr val="bg1">
                  <a:lumMod val="95000"/>
                </a:schemeClr>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11183112" y="6473952"/>
            <a:ext cx="548640" cy="274320"/>
          </a:xfrm>
          <a:prstGeom prst="rect">
            <a:avLst/>
          </a:prstGeom>
          <a:noFill/>
          <a:ln/>
        </p:spPr>
        <p:txBody>
          <a:bodyPr wrap="square" lIns="0" tIns="0" rIns="0" bIns="0" rtlCol="0" anchor="ctr"/>
          <a:lstStyle/>
          <a:p>
            <a:pPr marL="0" indent="0" algn="r">
              <a:buNone/>
            </a:pPr>
            <a:endParaRPr lang="en-US" sz="900" dirty="0"/>
          </a:p>
        </p:txBody>
      </p:sp>
      <p:sp>
        <p:nvSpPr>
          <p:cNvPr id="4" name="Text 2"/>
          <p:cNvSpPr/>
          <p:nvPr/>
        </p:nvSpPr>
        <p:spPr>
          <a:xfrm>
            <a:off x="640080" y="502920"/>
            <a:ext cx="7315200" cy="640080"/>
          </a:xfrm>
          <a:prstGeom prst="rect">
            <a:avLst/>
          </a:prstGeom>
          <a:noFill/>
          <a:ln/>
        </p:spPr>
        <p:txBody>
          <a:bodyPr wrap="square" lIns="0" tIns="0" rIns="0" bIns="0" rtlCol="0" anchor="ctr"/>
          <a:lstStyle/>
          <a:p>
            <a:pPr marL="0" indent="0">
              <a:buNone/>
            </a:pPr>
            <a:r>
              <a:rPr lang="en-US" sz="3200" b="1" dirty="0">
                <a:solidFill>
                  <a:srgbClr val="0B2545"/>
                </a:solidFill>
                <a:latin typeface="Cambria" pitchFamily="34" charset="0"/>
                <a:ea typeface="Cambria" pitchFamily="34" charset="-122"/>
                <a:cs typeface="Cambria" pitchFamily="34" charset="-120"/>
              </a:rPr>
              <a:t>Project Goal</a:t>
            </a:r>
            <a:endParaRPr lang="en-US" sz="3200" dirty="0"/>
          </a:p>
        </p:txBody>
      </p:sp>
      <p:sp>
        <p:nvSpPr>
          <p:cNvPr id="5" name="Shape 3"/>
          <p:cNvSpPr/>
          <p:nvPr/>
        </p:nvSpPr>
        <p:spPr>
          <a:xfrm>
            <a:off x="822960" y="1828800"/>
            <a:ext cx="777240" cy="777240"/>
          </a:xfrm>
          <a:prstGeom prst="ellipse">
            <a:avLst/>
          </a:prstGeom>
          <a:solidFill>
            <a:srgbClr val="DCEFEF"/>
          </a:solidFill>
          <a:ln/>
        </p:spPr>
      </p:sp>
      <p:pic>
        <p:nvPicPr>
          <p:cNvPr id="6" name="Image 0" descr="assets/FaBullseye_teal.png"/>
          <p:cNvPicPr>
            <a:picLocks noChangeAspect="1"/>
          </p:cNvPicPr>
          <p:nvPr/>
        </p:nvPicPr>
        <p:blipFill>
          <a:blip r:embed="rId3"/>
          <a:stretch>
            <a:fillRect/>
          </a:stretch>
        </p:blipFill>
        <p:spPr>
          <a:xfrm>
            <a:off x="1025042" y="2030882"/>
            <a:ext cx="373075" cy="373075"/>
          </a:xfrm>
          <a:prstGeom prst="rect">
            <a:avLst/>
          </a:prstGeom>
        </p:spPr>
      </p:pic>
      <p:sp>
        <p:nvSpPr>
          <p:cNvPr id="7" name="Text 4"/>
          <p:cNvSpPr/>
          <p:nvPr/>
        </p:nvSpPr>
        <p:spPr>
          <a:xfrm>
            <a:off x="1828800" y="1901952"/>
            <a:ext cx="7772400" cy="640080"/>
          </a:xfrm>
          <a:prstGeom prst="rect">
            <a:avLst/>
          </a:prstGeom>
          <a:noFill/>
          <a:ln/>
        </p:spPr>
        <p:txBody>
          <a:bodyPr wrap="square" lIns="0" tIns="0" rIns="0" bIns="0" rtlCol="0" anchor="ctr"/>
          <a:lstStyle/>
          <a:p>
            <a:pPr marL="0" indent="0">
              <a:buNone/>
            </a:pPr>
            <a:r>
              <a:rPr lang="en-US" sz="1900" dirty="0">
                <a:solidFill>
                  <a:srgbClr val="445566"/>
                </a:solidFill>
                <a:latin typeface="Calibri" pitchFamily="34" charset="0"/>
                <a:ea typeface="Calibri" pitchFamily="34" charset="-122"/>
                <a:cs typeface="Calibri" pitchFamily="34" charset="-120"/>
              </a:rPr>
              <a:t>Find patterns linked to 30-day readmission</a:t>
            </a:r>
            <a:endParaRPr lang="en-US" sz="1900" dirty="0"/>
          </a:p>
        </p:txBody>
      </p:sp>
      <p:sp>
        <p:nvSpPr>
          <p:cNvPr id="8" name="Shape 5"/>
          <p:cNvSpPr/>
          <p:nvPr/>
        </p:nvSpPr>
        <p:spPr>
          <a:xfrm>
            <a:off x="822960" y="2971800"/>
            <a:ext cx="777240" cy="777240"/>
          </a:xfrm>
          <a:prstGeom prst="ellipse">
            <a:avLst/>
          </a:prstGeom>
          <a:solidFill>
            <a:srgbClr val="DCEFEF"/>
          </a:solidFill>
          <a:ln/>
        </p:spPr>
      </p:sp>
      <p:pic>
        <p:nvPicPr>
          <p:cNvPr id="9" name="Image 1" descr="assets/FaProjectDiagram_teal.png"/>
          <p:cNvPicPr>
            <a:picLocks noChangeAspect="1"/>
          </p:cNvPicPr>
          <p:nvPr/>
        </p:nvPicPr>
        <p:blipFill>
          <a:blip r:embed="rId4"/>
          <a:stretch>
            <a:fillRect/>
          </a:stretch>
        </p:blipFill>
        <p:spPr>
          <a:xfrm>
            <a:off x="1025042" y="3173882"/>
            <a:ext cx="373075" cy="373075"/>
          </a:xfrm>
          <a:prstGeom prst="rect">
            <a:avLst/>
          </a:prstGeom>
        </p:spPr>
      </p:pic>
      <p:sp>
        <p:nvSpPr>
          <p:cNvPr id="10" name="Text 6"/>
          <p:cNvSpPr/>
          <p:nvPr/>
        </p:nvSpPr>
        <p:spPr>
          <a:xfrm>
            <a:off x="1828800" y="3044952"/>
            <a:ext cx="7772400" cy="640080"/>
          </a:xfrm>
          <a:prstGeom prst="rect">
            <a:avLst/>
          </a:prstGeom>
          <a:noFill/>
          <a:ln/>
        </p:spPr>
        <p:txBody>
          <a:bodyPr wrap="square" lIns="0" tIns="0" rIns="0" bIns="0" rtlCol="0" anchor="ctr"/>
          <a:lstStyle/>
          <a:p>
            <a:pPr marL="0" indent="0">
              <a:buNone/>
            </a:pPr>
            <a:r>
              <a:rPr lang="en-US" sz="1900" dirty="0">
                <a:solidFill>
                  <a:srgbClr val="445566"/>
                </a:solidFill>
                <a:latin typeface="Calibri" pitchFamily="34" charset="0"/>
                <a:ea typeface="Calibri" pitchFamily="34" charset="-122"/>
                <a:cs typeface="Calibri" pitchFamily="34" charset="-120"/>
              </a:rPr>
              <a:t>Use association rule mining</a:t>
            </a:r>
            <a:endParaRPr lang="en-US" sz="1900" dirty="0"/>
          </a:p>
        </p:txBody>
      </p:sp>
      <p:sp>
        <p:nvSpPr>
          <p:cNvPr id="11" name="Shape 7"/>
          <p:cNvSpPr/>
          <p:nvPr/>
        </p:nvSpPr>
        <p:spPr>
          <a:xfrm>
            <a:off x="822960" y="4114800"/>
            <a:ext cx="777240" cy="777240"/>
          </a:xfrm>
          <a:prstGeom prst="ellipse">
            <a:avLst/>
          </a:prstGeom>
          <a:solidFill>
            <a:srgbClr val="DCEFEF"/>
          </a:solidFill>
          <a:ln/>
        </p:spPr>
      </p:sp>
      <p:pic>
        <p:nvPicPr>
          <p:cNvPr id="12" name="Image 2" descr="assets/FaLightbulb_teal.png"/>
          <p:cNvPicPr>
            <a:picLocks noChangeAspect="1"/>
          </p:cNvPicPr>
          <p:nvPr/>
        </p:nvPicPr>
        <p:blipFill>
          <a:blip r:embed="rId5"/>
          <a:stretch>
            <a:fillRect/>
          </a:stretch>
        </p:blipFill>
        <p:spPr>
          <a:xfrm>
            <a:off x="1025042" y="4316882"/>
            <a:ext cx="373075" cy="373075"/>
          </a:xfrm>
          <a:prstGeom prst="rect">
            <a:avLst/>
          </a:prstGeom>
        </p:spPr>
      </p:pic>
      <p:sp>
        <p:nvSpPr>
          <p:cNvPr id="13" name="Text 8"/>
          <p:cNvSpPr/>
          <p:nvPr/>
        </p:nvSpPr>
        <p:spPr>
          <a:xfrm>
            <a:off x="1828800" y="4187952"/>
            <a:ext cx="7772400" cy="640080"/>
          </a:xfrm>
          <a:prstGeom prst="rect">
            <a:avLst/>
          </a:prstGeom>
          <a:noFill/>
          <a:ln/>
        </p:spPr>
        <p:txBody>
          <a:bodyPr wrap="square" lIns="0" tIns="0" rIns="0" bIns="0" rtlCol="0" anchor="ctr"/>
          <a:lstStyle/>
          <a:p>
            <a:pPr marL="0" indent="0">
              <a:buNone/>
            </a:pPr>
            <a:r>
              <a:rPr lang="en-US" sz="1900" dirty="0">
                <a:solidFill>
                  <a:srgbClr val="445566"/>
                </a:solidFill>
                <a:latin typeface="Calibri" pitchFamily="34" charset="0"/>
                <a:ea typeface="Calibri" pitchFamily="34" charset="-122"/>
                <a:cs typeface="Calibri" pitchFamily="34" charset="-120"/>
              </a:rPr>
              <a:t>Focus on interpretable healthcare insights</a:t>
            </a:r>
            <a:endParaRPr lang="en-US" sz="1900" dirty="0"/>
          </a:p>
        </p:txBody>
      </p:sp>
      <p:sp>
        <p:nvSpPr>
          <p:cNvPr id="14" name="Shape 9"/>
          <p:cNvSpPr/>
          <p:nvPr/>
        </p:nvSpPr>
        <p:spPr>
          <a:xfrm>
            <a:off x="8503920" y="1828800"/>
            <a:ext cx="2926080" cy="3246120"/>
          </a:xfrm>
          <a:prstGeom prst="roundRect">
            <a:avLst>
              <a:gd name="adj" fmla="val 3750"/>
            </a:avLst>
          </a:prstGeom>
          <a:solidFill>
            <a:srgbClr val="F7FAFA"/>
          </a:solidFill>
          <a:ln/>
          <a:effectLst>
            <a:outerShdw blurRad="101600" dist="25400" dir="5400000" algn="bl" rotWithShape="0">
              <a:srgbClr val="000000">
                <a:alpha val="10000"/>
              </a:srgbClr>
            </a:outerShdw>
          </a:effectLst>
        </p:spPr>
      </p:sp>
      <p:pic>
        <p:nvPicPr>
          <p:cNvPr id="15" name="Image 3" descr="assets/FaNotesMedical_teal.png"/>
          <p:cNvPicPr>
            <a:picLocks noChangeAspect="1"/>
          </p:cNvPicPr>
          <p:nvPr/>
        </p:nvPicPr>
        <p:blipFill>
          <a:blip r:embed="rId6"/>
          <a:stretch>
            <a:fillRect/>
          </a:stretch>
        </p:blipFill>
        <p:spPr>
          <a:xfrm>
            <a:off x="9646920" y="2148840"/>
            <a:ext cx="640080" cy="640080"/>
          </a:xfrm>
          <a:prstGeom prst="rect">
            <a:avLst/>
          </a:prstGeom>
        </p:spPr>
      </p:pic>
      <p:sp>
        <p:nvSpPr>
          <p:cNvPr id="16" name="Text 10"/>
          <p:cNvSpPr/>
          <p:nvPr/>
        </p:nvSpPr>
        <p:spPr>
          <a:xfrm>
            <a:off x="8732520" y="2971800"/>
            <a:ext cx="2468880" cy="1828800"/>
          </a:xfrm>
          <a:prstGeom prst="rect">
            <a:avLst/>
          </a:prstGeom>
          <a:noFill/>
          <a:ln/>
        </p:spPr>
        <p:txBody>
          <a:bodyPr wrap="square" lIns="0" tIns="0" rIns="0" bIns="0" rtlCol="0" anchor="t"/>
          <a:lstStyle/>
          <a:p>
            <a:pPr marL="0" indent="0" algn="ctr">
              <a:lnSpc>
                <a:spcPct val="130000"/>
              </a:lnSpc>
              <a:buNone/>
            </a:pPr>
            <a:r>
              <a:rPr lang="en-US" sz="1600" i="1" dirty="0">
                <a:solidFill>
                  <a:srgbClr val="0B2545"/>
                </a:solidFill>
                <a:latin typeface="Cambria" pitchFamily="34" charset="0"/>
                <a:ea typeface="Cambria" pitchFamily="34" charset="-122"/>
                <a:cs typeface="Cambria" pitchFamily="34" charset="-120"/>
              </a:rPr>
              <a:t>Not prediction.</a:t>
            </a:r>
            <a:endParaRPr lang="en-US" sz="1600" dirty="0"/>
          </a:p>
          <a:p>
            <a:pPr marL="0" indent="0" algn="ctr">
              <a:lnSpc>
                <a:spcPct val="130000"/>
              </a:lnSpc>
              <a:buNone/>
            </a:pPr>
            <a:r>
              <a:rPr lang="en-US" sz="1600" i="1" dirty="0">
                <a:solidFill>
                  <a:srgbClr val="0B2545"/>
                </a:solidFill>
                <a:latin typeface="Cambria" pitchFamily="34" charset="0"/>
                <a:ea typeface="Cambria" pitchFamily="34" charset="-122"/>
                <a:cs typeface="Cambria" pitchFamily="34" charset="-120"/>
              </a:rPr>
              <a:t>Not causation.</a:t>
            </a:r>
            <a:endParaRPr lang="en-US" sz="1600" dirty="0"/>
          </a:p>
          <a:p>
            <a:pPr marL="0" indent="0" algn="ctr">
              <a:lnSpc>
                <a:spcPct val="130000"/>
              </a:lnSpc>
              <a:buNone/>
            </a:pPr>
            <a:r>
              <a:rPr lang="en-US" sz="1600" i="1" dirty="0">
                <a:solidFill>
                  <a:srgbClr val="0B2545"/>
                </a:solidFill>
                <a:latin typeface="Cambria" pitchFamily="34" charset="0"/>
                <a:ea typeface="Cambria" pitchFamily="34" charset="-122"/>
                <a:cs typeface="Cambria" pitchFamily="34" charset="-120"/>
              </a:rPr>
              <a:t>Pattern discovery.</a:t>
            </a:r>
            <a:endParaRPr lang="en-US" sz="1600" dirty="0"/>
          </a:p>
        </p:txBody>
      </p:sp>
      <p:pic>
        <p:nvPicPr>
          <p:cNvPr id="20" name="Image 1" descr="assets/ribbon_real_cropped.png">
            <a:extLst>
              <a:ext uri="{FF2B5EF4-FFF2-40B4-BE49-F238E27FC236}">
                <a16:creationId xmlns:a16="http://schemas.microsoft.com/office/drawing/2014/main" id="{D9E9C061-787E-0EFA-3EC5-8DF2329116E0}"/>
              </a:ext>
            </a:extLst>
          </p:cNvPr>
          <p:cNvPicPr>
            <a:picLocks noChangeAspect="1"/>
          </p:cNvPicPr>
          <p:nvPr/>
        </p:nvPicPr>
        <p:blipFill>
          <a:blip r:embed="rId7">
            <a:alphaModFix amt="28000"/>
          </a:blip>
          <a:stretch>
            <a:fillRect/>
          </a:stretch>
        </p:blipFill>
        <p:spPr>
          <a:xfrm rot="-360000">
            <a:off x="137890" y="5574141"/>
            <a:ext cx="731520" cy="1249048"/>
          </a:xfrm>
          <a:prstGeom prst="rect">
            <a:avLst/>
          </a:prstGeom>
        </p:spPr>
      </p:pic>
      <p:pic>
        <p:nvPicPr>
          <p:cNvPr id="22" name="Image 1" descr="assets/ribbon_real_cropped.png">
            <a:extLst>
              <a:ext uri="{FF2B5EF4-FFF2-40B4-BE49-F238E27FC236}">
                <a16:creationId xmlns:a16="http://schemas.microsoft.com/office/drawing/2014/main" id="{88FE10E4-0CB3-77DF-9E90-B3E9FC12D75C}"/>
              </a:ext>
            </a:extLst>
          </p:cNvPr>
          <p:cNvPicPr>
            <a:picLocks noChangeAspect="1"/>
          </p:cNvPicPr>
          <p:nvPr/>
        </p:nvPicPr>
        <p:blipFill>
          <a:blip r:embed="rId7">
            <a:alphaModFix amt="28000"/>
          </a:blip>
          <a:stretch>
            <a:fillRect/>
          </a:stretch>
        </p:blipFill>
        <p:spPr>
          <a:xfrm rot="510847">
            <a:off x="11278534" y="84613"/>
            <a:ext cx="731520" cy="1249048"/>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640080" y="502920"/>
            <a:ext cx="7315200" cy="640080"/>
          </a:xfrm>
          <a:prstGeom prst="rect">
            <a:avLst/>
          </a:prstGeom>
          <a:noFill/>
          <a:ln/>
        </p:spPr>
        <p:txBody>
          <a:bodyPr wrap="square" lIns="0" tIns="0" rIns="0" bIns="0" rtlCol="0" anchor="ctr"/>
          <a:lstStyle/>
          <a:p>
            <a:pPr marL="0" indent="0">
              <a:buNone/>
            </a:pPr>
            <a:r>
              <a:rPr lang="en-US" sz="3200" b="1" dirty="0">
                <a:solidFill>
                  <a:srgbClr val="0B2545"/>
                </a:solidFill>
                <a:latin typeface="Cambria" pitchFamily="34" charset="0"/>
                <a:ea typeface="Cambria" pitchFamily="34" charset="-122"/>
                <a:cs typeface="Cambria" pitchFamily="34" charset="-120"/>
              </a:rPr>
              <a:t>Dataset Overview</a:t>
            </a:r>
            <a:endParaRPr lang="en-US" sz="3200" dirty="0"/>
          </a:p>
        </p:txBody>
      </p:sp>
      <p:sp>
        <p:nvSpPr>
          <p:cNvPr id="5" name="Shape 3"/>
          <p:cNvSpPr/>
          <p:nvPr/>
        </p:nvSpPr>
        <p:spPr>
          <a:xfrm>
            <a:off x="640080" y="1783080"/>
            <a:ext cx="6400800" cy="960120"/>
          </a:xfrm>
          <a:prstGeom prst="roundRect">
            <a:avLst>
              <a:gd name="adj" fmla="val 9524"/>
            </a:avLst>
          </a:prstGeom>
          <a:solidFill>
            <a:srgbClr val="F7FAFA"/>
          </a:solidFill>
          <a:ln/>
          <a:effectLst>
            <a:outerShdw blurRad="76200" dist="25400" dir="5400000" algn="bl" rotWithShape="0">
              <a:srgbClr val="000000">
                <a:alpha val="8000"/>
              </a:srgbClr>
            </a:outerShdw>
          </a:effectLst>
        </p:spPr>
      </p:sp>
      <p:sp>
        <p:nvSpPr>
          <p:cNvPr id="6" name="Shape 4"/>
          <p:cNvSpPr/>
          <p:nvPr/>
        </p:nvSpPr>
        <p:spPr>
          <a:xfrm>
            <a:off x="868680" y="1901952"/>
            <a:ext cx="713232" cy="713232"/>
          </a:xfrm>
          <a:prstGeom prst="ellipse">
            <a:avLst/>
          </a:prstGeom>
          <a:solidFill>
            <a:srgbClr val="DCEFEF"/>
          </a:solidFill>
          <a:ln/>
        </p:spPr>
      </p:sp>
      <p:pic>
        <p:nvPicPr>
          <p:cNvPr id="7" name="Image 0" descr="assets/FaDatabase_teal.png"/>
          <p:cNvPicPr>
            <a:picLocks noChangeAspect="1"/>
          </p:cNvPicPr>
          <p:nvPr/>
        </p:nvPicPr>
        <p:blipFill>
          <a:blip r:embed="rId3"/>
          <a:stretch>
            <a:fillRect/>
          </a:stretch>
        </p:blipFill>
        <p:spPr>
          <a:xfrm>
            <a:off x="1054120" y="2087392"/>
            <a:ext cx="342351" cy="342351"/>
          </a:xfrm>
          <a:prstGeom prst="rect">
            <a:avLst/>
          </a:prstGeom>
        </p:spPr>
      </p:pic>
      <p:sp>
        <p:nvSpPr>
          <p:cNvPr id="8" name="Text 5"/>
          <p:cNvSpPr/>
          <p:nvPr/>
        </p:nvSpPr>
        <p:spPr>
          <a:xfrm>
            <a:off x="1828800" y="1901952"/>
            <a:ext cx="5029200" cy="274320"/>
          </a:xfrm>
          <a:prstGeom prst="rect">
            <a:avLst/>
          </a:prstGeom>
          <a:noFill/>
          <a:ln/>
        </p:spPr>
        <p:txBody>
          <a:bodyPr wrap="square" lIns="0" tIns="0" rIns="0" bIns="0" rtlCol="0" anchor="ctr"/>
          <a:lstStyle/>
          <a:p>
            <a:pPr marL="0" indent="0">
              <a:buNone/>
            </a:pPr>
            <a:r>
              <a:rPr lang="en-US" sz="1050" b="1" kern="0" spc="150" dirty="0">
                <a:solidFill>
                  <a:srgbClr val="00A896"/>
                </a:solidFill>
                <a:latin typeface="Calibri" pitchFamily="34" charset="0"/>
                <a:ea typeface="Calibri" pitchFamily="34" charset="-122"/>
                <a:cs typeface="Calibri" pitchFamily="34" charset="-120"/>
              </a:rPr>
              <a:t>SOURCE</a:t>
            </a:r>
            <a:endParaRPr lang="en-US" sz="1050" dirty="0"/>
          </a:p>
        </p:txBody>
      </p:sp>
      <p:sp>
        <p:nvSpPr>
          <p:cNvPr id="9" name="Text 6"/>
          <p:cNvSpPr/>
          <p:nvPr/>
        </p:nvSpPr>
        <p:spPr>
          <a:xfrm>
            <a:off x="1828800" y="2167128"/>
            <a:ext cx="5029200" cy="502920"/>
          </a:xfrm>
          <a:prstGeom prst="rect">
            <a:avLst/>
          </a:prstGeom>
          <a:noFill/>
          <a:ln/>
        </p:spPr>
        <p:txBody>
          <a:bodyPr wrap="square" lIns="0" tIns="0" rIns="0" bIns="0" rtlCol="0" anchor="ctr"/>
          <a:lstStyle/>
          <a:p>
            <a:pPr marL="0" indent="0">
              <a:buNone/>
            </a:pPr>
            <a:r>
              <a:rPr lang="en-US" sz="1450" dirty="0">
                <a:solidFill>
                  <a:srgbClr val="445566"/>
                </a:solidFill>
                <a:latin typeface="Calibri" pitchFamily="34" charset="0"/>
                <a:ea typeface="Calibri" pitchFamily="34" charset="-122"/>
                <a:cs typeface="Calibri" pitchFamily="34" charset="-120"/>
              </a:rPr>
              <a:t>UCI Machine Learning Repository</a:t>
            </a:r>
            <a:endParaRPr lang="en-US" sz="1450" dirty="0"/>
          </a:p>
        </p:txBody>
      </p:sp>
      <p:sp>
        <p:nvSpPr>
          <p:cNvPr id="10" name="Shape 7"/>
          <p:cNvSpPr/>
          <p:nvPr/>
        </p:nvSpPr>
        <p:spPr>
          <a:xfrm>
            <a:off x="640080" y="2926080"/>
            <a:ext cx="6400800" cy="960120"/>
          </a:xfrm>
          <a:prstGeom prst="roundRect">
            <a:avLst>
              <a:gd name="adj" fmla="val 9524"/>
            </a:avLst>
          </a:prstGeom>
          <a:solidFill>
            <a:srgbClr val="F7FAFA"/>
          </a:solidFill>
          <a:ln/>
          <a:effectLst>
            <a:outerShdw blurRad="76200" dist="25400" dir="5400000" algn="bl" rotWithShape="0">
              <a:srgbClr val="000000">
                <a:alpha val="8000"/>
              </a:srgbClr>
            </a:outerShdw>
          </a:effectLst>
        </p:spPr>
      </p:sp>
      <p:sp>
        <p:nvSpPr>
          <p:cNvPr id="11" name="Shape 8"/>
          <p:cNvSpPr/>
          <p:nvPr/>
        </p:nvSpPr>
        <p:spPr>
          <a:xfrm>
            <a:off x="868680" y="3044952"/>
            <a:ext cx="713232" cy="713232"/>
          </a:xfrm>
          <a:prstGeom prst="ellipse">
            <a:avLst/>
          </a:prstGeom>
          <a:solidFill>
            <a:srgbClr val="DCEFEF"/>
          </a:solidFill>
          <a:ln/>
        </p:spPr>
      </p:sp>
      <p:pic>
        <p:nvPicPr>
          <p:cNvPr id="12" name="Image 1" descr="assets/FaHospital_teal.png"/>
          <p:cNvPicPr>
            <a:picLocks noChangeAspect="1"/>
          </p:cNvPicPr>
          <p:nvPr/>
        </p:nvPicPr>
        <p:blipFill>
          <a:blip r:embed="rId4"/>
          <a:stretch>
            <a:fillRect/>
          </a:stretch>
        </p:blipFill>
        <p:spPr>
          <a:xfrm>
            <a:off x="1054120" y="3230392"/>
            <a:ext cx="342351" cy="342351"/>
          </a:xfrm>
          <a:prstGeom prst="rect">
            <a:avLst/>
          </a:prstGeom>
        </p:spPr>
      </p:pic>
      <p:sp>
        <p:nvSpPr>
          <p:cNvPr id="13" name="Text 9"/>
          <p:cNvSpPr/>
          <p:nvPr/>
        </p:nvSpPr>
        <p:spPr>
          <a:xfrm>
            <a:off x="1828800" y="3044952"/>
            <a:ext cx="5029200" cy="274320"/>
          </a:xfrm>
          <a:prstGeom prst="rect">
            <a:avLst/>
          </a:prstGeom>
          <a:noFill/>
          <a:ln/>
        </p:spPr>
        <p:txBody>
          <a:bodyPr wrap="square" lIns="0" tIns="0" rIns="0" bIns="0" rtlCol="0" anchor="ctr"/>
          <a:lstStyle/>
          <a:p>
            <a:pPr marL="0" indent="0">
              <a:buNone/>
            </a:pPr>
            <a:r>
              <a:rPr lang="en-US" sz="1050" b="1" kern="0" spc="150" dirty="0">
                <a:solidFill>
                  <a:srgbClr val="00A896"/>
                </a:solidFill>
                <a:latin typeface="Calibri" pitchFamily="34" charset="0"/>
                <a:ea typeface="Calibri" pitchFamily="34" charset="-122"/>
                <a:cs typeface="Calibri" pitchFamily="34" charset="-120"/>
              </a:rPr>
              <a:t>DATASET</a:t>
            </a:r>
            <a:endParaRPr lang="en-US" sz="1050" dirty="0"/>
          </a:p>
        </p:txBody>
      </p:sp>
      <p:sp>
        <p:nvSpPr>
          <p:cNvPr id="14" name="Text 10"/>
          <p:cNvSpPr/>
          <p:nvPr/>
        </p:nvSpPr>
        <p:spPr>
          <a:xfrm>
            <a:off x="1828800" y="3310128"/>
            <a:ext cx="5029200" cy="502920"/>
          </a:xfrm>
          <a:prstGeom prst="rect">
            <a:avLst/>
          </a:prstGeom>
          <a:noFill/>
          <a:ln/>
        </p:spPr>
        <p:txBody>
          <a:bodyPr wrap="square" lIns="0" tIns="0" rIns="0" bIns="0" rtlCol="0" anchor="ctr"/>
          <a:lstStyle/>
          <a:p>
            <a:pPr marL="0" indent="0">
              <a:buNone/>
            </a:pPr>
            <a:r>
              <a:rPr lang="en-US" sz="1450" dirty="0">
                <a:solidFill>
                  <a:srgbClr val="445566"/>
                </a:solidFill>
                <a:latin typeface="Calibri" pitchFamily="34" charset="0"/>
                <a:ea typeface="Calibri" pitchFamily="34" charset="-122"/>
                <a:cs typeface="Calibri" pitchFamily="34" charset="-120"/>
              </a:rPr>
              <a:t>Diabetes 130-US Hospitals (1999–2008)</a:t>
            </a:r>
            <a:endParaRPr lang="en-US" sz="1450" dirty="0"/>
          </a:p>
        </p:txBody>
      </p:sp>
      <p:sp>
        <p:nvSpPr>
          <p:cNvPr id="15" name="Shape 11"/>
          <p:cNvSpPr/>
          <p:nvPr/>
        </p:nvSpPr>
        <p:spPr>
          <a:xfrm>
            <a:off x="640080" y="4069080"/>
            <a:ext cx="6400800" cy="960120"/>
          </a:xfrm>
          <a:prstGeom prst="roundRect">
            <a:avLst>
              <a:gd name="adj" fmla="val 9524"/>
            </a:avLst>
          </a:prstGeom>
          <a:solidFill>
            <a:srgbClr val="F7FAFA"/>
          </a:solidFill>
          <a:ln/>
          <a:effectLst>
            <a:outerShdw blurRad="76200" dist="25400" dir="5400000" algn="bl" rotWithShape="0">
              <a:srgbClr val="000000">
                <a:alpha val="8000"/>
              </a:srgbClr>
            </a:outerShdw>
          </a:effectLst>
        </p:spPr>
      </p:sp>
      <p:sp>
        <p:nvSpPr>
          <p:cNvPr id="16" name="Shape 12"/>
          <p:cNvSpPr/>
          <p:nvPr/>
        </p:nvSpPr>
        <p:spPr>
          <a:xfrm>
            <a:off x="868680" y="4187952"/>
            <a:ext cx="713232" cy="713232"/>
          </a:xfrm>
          <a:prstGeom prst="ellipse">
            <a:avLst/>
          </a:prstGeom>
          <a:solidFill>
            <a:srgbClr val="DCEFEF"/>
          </a:solidFill>
          <a:ln/>
        </p:spPr>
      </p:sp>
      <p:pic>
        <p:nvPicPr>
          <p:cNvPr id="17" name="Image 2" descr="assets/FaUserMd_teal.png"/>
          <p:cNvPicPr>
            <a:picLocks noChangeAspect="1"/>
          </p:cNvPicPr>
          <p:nvPr/>
        </p:nvPicPr>
        <p:blipFill>
          <a:blip r:embed="rId5"/>
          <a:stretch>
            <a:fillRect/>
          </a:stretch>
        </p:blipFill>
        <p:spPr>
          <a:xfrm>
            <a:off x="1054120" y="4373392"/>
            <a:ext cx="342351" cy="342351"/>
          </a:xfrm>
          <a:prstGeom prst="rect">
            <a:avLst/>
          </a:prstGeom>
        </p:spPr>
      </p:pic>
      <p:sp>
        <p:nvSpPr>
          <p:cNvPr id="18" name="Text 13"/>
          <p:cNvSpPr/>
          <p:nvPr/>
        </p:nvSpPr>
        <p:spPr>
          <a:xfrm>
            <a:off x="1828800" y="4187952"/>
            <a:ext cx="5029200" cy="274320"/>
          </a:xfrm>
          <a:prstGeom prst="rect">
            <a:avLst/>
          </a:prstGeom>
          <a:noFill/>
          <a:ln/>
        </p:spPr>
        <p:txBody>
          <a:bodyPr wrap="square" lIns="0" tIns="0" rIns="0" bIns="0" rtlCol="0" anchor="ctr"/>
          <a:lstStyle/>
          <a:p>
            <a:pPr marL="0" indent="0">
              <a:buNone/>
            </a:pPr>
            <a:r>
              <a:rPr lang="en-US" sz="1050" b="1" kern="0" spc="150" dirty="0">
                <a:solidFill>
                  <a:srgbClr val="00A896"/>
                </a:solidFill>
                <a:latin typeface="Calibri" pitchFamily="34" charset="0"/>
                <a:ea typeface="Calibri" pitchFamily="34" charset="-122"/>
                <a:cs typeface="Calibri" pitchFamily="34" charset="-120"/>
              </a:rPr>
              <a:t>RECORDS</a:t>
            </a:r>
            <a:endParaRPr lang="en-US" sz="1050" dirty="0"/>
          </a:p>
        </p:txBody>
      </p:sp>
      <p:sp>
        <p:nvSpPr>
          <p:cNvPr id="19" name="Text 14"/>
          <p:cNvSpPr/>
          <p:nvPr/>
        </p:nvSpPr>
        <p:spPr>
          <a:xfrm>
            <a:off x="1828800" y="4453128"/>
            <a:ext cx="5029200" cy="502920"/>
          </a:xfrm>
          <a:prstGeom prst="rect">
            <a:avLst/>
          </a:prstGeom>
          <a:noFill/>
          <a:ln/>
        </p:spPr>
        <p:txBody>
          <a:bodyPr wrap="square" lIns="0" tIns="0" rIns="0" bIns="0" rtlCol="0" anchor="ctr"/>
          <a:lstStyle/>
          <a:p>
            <a:pPr marL="0" indent="0">
              <a:buNone/>
            </a:pPr>
            <a:r>
              <a:rPr lang="en-US" sz="1450" dirty="0">
                <a:solidFill>
                  <a:srgbClr val="445566"/>
                </a:solidFill>
                <a:latin typeface="Calibri" pitchFamily="34" charset="0"/>
                <a:ea typeface="Calibri" pitchFamily="34" charset="-122"/>
                <a:cs typeface="Calibri" pitchFamily="34" charset="-120"/>
              </a:rPr>
              <a:t>Diabetic patient hospital encounters</a:t>
            </a:r>
            <a:endParaRPr lang="en-US" sz="1450" dirty="0"/>
          </a:p>
        </p:txBody>
      </p:sp>
      <p:sp>
        <p:nvSpPr>
          <p:cNvPr id="20" name="Text 15"/>
          <p:cNvSpPr/>
          <p:nvPr/>
        </p:nvSpPr>
        <p:spPr>
          <a:xfrm>
            <a:off x="7315200" y="1783080"/>
            <a:ext cx="4206240" cy="365760"/>
          </a:xfrm>
          <a:prstGeom prst="rect">
            <a:avLst/>
          </a:prstGeom>
          <a:noFill/>
          <a:ln/>
        </p:spPr>
        <p:txBody>
          <a:bodyPr wrap="square" lIns="0" tIns="0" rIns="0" bIns="0" rtlCol="0" anchor="ctr"/>
          <a:lstStyle/>
          <a:p>
            <a:pPr marL="0" indent="0">
              <a:buNone/>
            </a:pPr>
            <a:r>
              <a:rPr lang="en-US" sz="1300" b="1" dirty="0">
                <a:solidFill>
                  <a:srgbClr val="0B2545"/>
                </a:solidFill>
                <a:latin typeface="Calibri" pitchFamily="34" charset="0"/>
                <a:ea typeface="Calibri" pitchFamily="34" charset="-122"/>
                <a:cs typeface="Calibri" pitchFamily="34" charset="-120"/>
              </a:rPr>
              <a:t>Data Domains Covered</a:t>
            </a:r>
            <a:endParaRPr lang="en-US" sz="1300" dirty="0"/>
          </a:p>
        </p:txBody>
      </p:sp>
      <p:sp>
        <p:nvSpPr>
          <p:cNvPr id="21" name="Shape 16"/>
          <p:cNvSpPr/>
          <p:nvPr/>
        </p:nvSpPr>
        <p:spPr>
          <a:xfrm>
            <a:off x="7315200" y="2286000"/>
            <a:ext cx="1965960" cy="1188720"/>
          </a:xfrm>
          <a:prstGeom prst="roundRect">
            <a:avLst>
              <a:gd name="adj" fmla="val 7692"/>
            </a:avLst>
          </a:prstGeom>
          <a:solidFill>
            <a:srgbClr val="DCEFEF"/>
          </a:solidFill>
          <a:ln/>
        </p:spPr>
      </p:sp>
      <p:pic>
        <p:nvPicPr>
          <p:cNvPr id="22" name="Image 3" descr="assets/FaHospital_teal.png"/>
          <p:cNvPicPr>
            <a:picLocks noChangeAspect="1"/>
          </p:cNvPicPr>
          <p:nvPr/>
        </p:nvPicPr>
        <p:blipFill>
          <a:blip r:embed="rId4"/>
          <a:stretch>
            <a:fillRect/>
          </a:stretch>
        </p:blipFill>
        <p:spPr>
          <a:xfrm>
            <a:off x="8028432" y="2450592"/>
            <a:ext cx="548640" cy="548640"/>
          </a:xfrm>
          <a:prstGeom prst="rect">
            <a:avLst/>
          </a:prstGeom>
        </p:spPr>
      </p:pic>
      <p:sp>
        <p:nvSpPr>
          <p:cNvPr id="23" name="Text 17"/>
          <p:cNvSpPr/>
          <p:nvPr/>
        </p:nvSpPr>
        <p:spPr>
          <a:xfrm>
            <a:off x="7315200" y="3063240"/>
            <a:ext cx="1965960" cy="320040"/>
          </a:xfrm>
          <a:prstGeom prst="rect">
            <a:avLst/>
          </a:prstGeom>
          <a:noFill/>
          <a:ln/>
        </p:spPr>
        <p:txBody>
          <a:bodyPr wrap="square" lIns="0" tIns="0" rIns="0" bIns="0" rtlCol="0" anchor="ctr"/>
          <a:lstStyle/>
          <a:p>
            <a:pPr marL="0" indent="0" algn="ctr">
              <a:buNone/>
            </a:pPr>
            <a:r>
              <a:rPr lang="en-US" sz="1250" b="1" dirty="0">
                <a:solidFill>
                  <a:srgbClr val="0B2545"/>
                </a:solidFill>
                <a:latin typeface="Calibri" pitchFamily="34" charset="0"/>
                <a:ea typeface="Calibri" pitchFamily="34" charset="-122"/>
                <a:cs typeface="Calibri" pitchFamily="34" charset="-120"/>
              </a:rPr>
              <a:t>Hospital</a:t>
            </a:r>
            <a:endParaRPr lang="en-US" sz="1250" dirty="0"/>
          </a:p>
        </p:txBody>
      </p:sp>
      <p:sp>
        <p:nvSpPr>
          <p:cNvPr id="24" name="Shape 18"/>
          <p:cNvSpPr/>
          <p:nvPr/>
        </p:nvSpPr>
        <p:spPr>
          <a:xfrm>
            <a:off x="9464040" y="2286000"/>
            <a:ext cx="1965960" cy="1188720"/>
          </a:xfrm>
          <a:prstGeom prst="roundRect">
            <a:avLst>
              <a:gd name="adj" fmla="val 7692"/>
            </a:avLst>
          </a:prstGeom>
          <a:solidFill>
            <a:srgbClr val="DCEFEF"/>
          </a:solidFill>
          <a:ln/>
        </p:spPr>
      </p:sp>
      <p:pic>
        <p:nvPicPr>
          <p:cNvPr id="25" name="Image 4" descr="assets/FaFlask_teal.png"/>
          <p:cNvPicPr>
            <a:picLocks noChangeAspect="1"/>
          </p:cNvPicPr>
          <p:nvPr/>
        </p:nvPicPr>
        <p:blipFill>
          <a:blip r:embed="rId6"/>
          <a:stretch>
            <a:fillRect/>
          </a:stretch>
        </p:blipFill>
        <p:spPr>
          <a:xfrm>
            <a:off x="10177272" y="2450592"/>
            <a:ext cx="548640" cy="548640"/>
          </a:xfrm>
          <a:prstGeom prst="rect">
            <a:avLst/>
          </a:prstGeom>
        </p:spPr>
      </p:pic>
      <p:sp>
        <p:nvSpPr>
          <p:cNvPr id="26" name="Text 19"/>
          <p:cNvSpPr/>
          <p:nvPr/>
        </p:nvSpPr>
        <p:spPr>
          <a:xfrm>
            <a:off x="9464040" y="3063240"/>
            <a:ext cx="1965960" cy="320040"/>
          </a:xfrm>
          <a:prstGeom prst="rect">
            <a:avLst/>
          </a:prstGeom>
          <a:noFill/>
          <a:ln/>
        </p:spPr>
        <p:txBody>
          <a:bodyPr wrap="square" lIns="0" tIns="0" rIns="0" bIns="0" rtlCol="0" anchor="ctr"/>
          <a:lstStyle/>
          <a:p>
            <a:pPr marL="0" indent="0" algn="ctr">
              <a:buNone/>
            </a:pPr>
            <a:r>
              <a:rPr lang="en-US" sz="1250" b="1" dirty="0">
                <a:solidFill>
                  <a:srgbClr val="0B2545"/>
                </a:solidFill>
                <a:latin typeface="Calibri" pitchFamily="34" charset="0"/>
                <a:ea typeface="Calibri" pitchFamily="34" charset="-122"/>
                <a:cs typeface="Calibri" pitchFamily="34" charset="-120"/>
              </a:rPr>
              <a:t>Lab</a:t>
            </a:r>
            <a:endParaRPr lang="en-US" sz="1250" dirty="0"/>
          </a:p>
        </p:txBody>
      </p:sp>
      <p:sp>
        <p:nvSpPr>
          <p:cNvPr id="27" name="Shape 20"/>
          <p:cNvSpPr/>
          <p:nvPr/>
        </p:nvSpPr>
        <p:spPr>
          <a:xfrm>
            <a:off x="7315200" y="3703320"/>
            <a:ext cx="1965960" cy="1188720"/>
          </a:xfrm>
          <a:prstGeom prst="roundRect">
            <a:avLst>
              <a:gd name="adj" fmla="val 7692"/>
            </a:avLst>
          </a:prstGeom>
          <a:solidFill>
            <a:srgbClr val="DCEFEF"/>
          </a:solidFill>
          <a:ln/>
        </p:spPr>
      </p:sp>
      <p:pic>
        <p:nvPicPr>
          <p:cNvPr id="28" name="Image 5" descr="assets/FaPills_teal.png"/>
          <p:cNvPicPr>
            <a:picLocks noChangeAspect="1"/>
          </p:cNvPicPr>
          <p:nvPr/>
        </p:nvPicPr>
        <p:blipFill>
          <a:blip r:embed="rId7"/>
          <a:stretch>
            <a:fillRect/>
          </a:stretch>
        </p:blipFill>
        <p:spPr>
          <a:xfrm>
            <a:off x="8028432" y="3867912"/>
            <a:ext cx="548640" cy="548640"/>
          </a:xfrm>
          <a:prstGeom prst="rect">
            <a:avLst/>
          </a:prstGeom>
        </p:spPr>
      </p:pic>
      <p:sp>
        <p:nvSpPr>
          <p:cNvPr id="29" name="Text 21"/>
          <p:cNvSpPr/>
          <p:nvPr/>
        </p:nvSpPr>
        <p:spPr>
          <a:xfrm>
            <a:off x="7315200" y="4480560"/>
            <a:ext cx="1965960" cy="320040"/>
          </a:xfrm>
          <a:prstGeom prst="rect">
            <a:avLst/>
          </a:prstGeom>
          <a:noFill/>
          <a:ln/>
        </p:spPr>
        <p:txBody>
          <a:bodyPr wrap="square" lIns="0" tIns="0" rIns="0" bIns="0" rtlCol="0" anchor="ctr"/>
          <a:lstStyle/>
          <a:p>
            <a:pPr marL="0" indent="0" algn="ctr">
              <a:buNone/>
            </a:pPr>
            <a:r>
              <a:rPr lang="en-US" sz="1250" b="1" dirty="0">
                <a:solidFill>
                  <a:srgbClr val="0B2545"/>
                </a:solidFill>
                <a:latin typeface="Calibri" pitchFamily="34" charset="0"/>
                <a:ea typeface="Calibri" pitchFamily="34" charset="-122"/>
                <a:cs typeface="Calibri" pitchFamily="34" charset="-120"/>
              </a:rPr>
              <a:t>Medication</a:t>
            </a:r>
            <a:endParaRPr lang="en-US" sz="1250" dirty="0"/>
          </a:p>
        </p:txBody>
      </p:sp>
      <p:sp>
        <p:nvSpPr>
          <p:cNvPr id="30" name="Shape 22"/>
          <p:cNvSpPr/>
          <p:nvPr/>
        </p:nvSpPr>
        <p:spPr>
          <a:xfrm>
            <a:off x="9464040" y="3703320"/>
            <a:ext cx="1965960" cy="1188720"/>
          </a:xfrm>
          <a:prstGeom prst="roundRect">
            <a:avLst>
              <a:gd name="adj" fmla="val 7692"/>
            </a:avLst>
          </a:prstGeom>
          <a:solidFill>
            <a:srgbClr val="DCEFEF"/>
          </a:solidFill>
          <a:ln/>
        </p:spPr>
      </p:sp>
      <p:pic>
        <p:nvPicPr>
          <p:cNvPr id="31" name="Image 6" descr="assets/FaUserClock_teal.png"/>
          <p:cNvPicPr>
            <a:picLocks noChangeAspect="1"/>
          </p:cNvPicPr>
          <p:nvPr/>
        </p:nvPicPr>
        <p:blipFill>
          <a:blip r:embed="rId8"/>
          <a:stretch>
            <a:fillRect/>
          </a:stretch>
        </p:blipFill>
        <p:spPr>
          <a:xfrm>
            <a:off x="10177272" y="3867912"/>
            <a:ext cx="548640" cy="548640"/>
          </a:xfrm>
          <a:prstGeom prst="rect">
            <a:avLst/>
          </a:prstGeom>
        </p:spPr>
      </p:pic>
      <p:sp>
        <p:nvSpPr>
          <p:cNvPr id="32" name="Text 23"/>
          <p:cNvSpPr/>
          <p:nvPr/>
        </p:nvSpPr>
        <p:spPr>
          <a:xfrm>
            <a:off x="9464040" y="4480560"/>
            <a:ext cx="1965960" cy="320040"/>
          </a:xfrm>
          <a:prstGeom prst="rect">
            <a:avLst/>
          </a:prstGeom>
          <a:noFill/>
          <a:ln/>
        </p:spPr>
        <p:txBody>
          <a:bodyPr wrap="square" lIns="0" tIns="0" rIns="0" bIns="0" rtlCol="0" anchor="ctr"/>
          <a:lstStyle/>
          <a:p>
            <a:pPr marL="0" indent="0" algn="ctr">
              <a:buNone/>
            </a:pPr>
            <a:r>
              <a:rPr lang="en-US" sz="1250" b="1" dirty="0">
                <a:solidFill>
                  <a:srgbClr val="0B2545"/>
                </a:solidFill>
                <a:latin typeface="Calibri" pitchFamily="34" charset="0"/>
                <a:ea typeface="Calibri" pitchFamily="34" charset="-122"/>
                <a:cs typeface="Calibri" pitchFamily="34" charset="-120"/>
              </a:rPr>
              <a:t>Readmission</a:t>
            </a:r>
            <a:endParaRPr lang="en-US" sz="1250" dirty="0"/>
          </a:p>
        </p:txBody>
      </p:sp>
      <p:pic>
        <p:nvPicPr>
          <p:cNvPr id="34" name="Image 1" descr="assets/ribbon_real_cropped.png">
            <a:extLst>
              <a:ext uri="{FF2B5EF4-FFF2-40B4-BE49-F238E27FC236}">
                <a16:creationId xmlns:a16="http://schemas.microsoft.com/office/drawing/2014/main" id="{07CE1C23-72D2-58BC-16C1-508508048E16}"/>
              </a:ext>
            </a:extLst>
          </p:cNvPr>
          <p:cNvPicPr>
            <a:picLocks noChangeAspect="1"/>
          </p:cNvPicPr>
          <p:nvPr/>
        </p:nvPicPr>
        <p:blipFill>
          <a:blip r:embed="rId9">
            <a:alphaModFix amt="28000"/>
          </a:blip>
          <a:stretch>
            <a:fillRect/>
          </a:stretch>
        </p:blipFill>
        <p:spPr>
          <a:xfrm rot="-360000">
            <a:off x="137890" y="5574141"/>
            <a:ext cx="731520" cy="1249048"/>
          </a:xfrm>
          <a:prstGeom prst="rect">
            <a:avLst/>
          </a:prstGeom>
        </p:spPr>
      </p:pic>
      <p:pic>
        <p:nvPicPr>
          <p:cNvPr id="36" name="Image 1" descr="assets/ribbon_real_cropped.png">
            <a:extLst>
              <a:ext uri="{FF2B5EF4-FFF2-40B4-BE49-F238E27FC236}">
                <a16:creationId xmlns:a16="http://schemas.microsoft.com/office/drawing/2014/main" id="{97150C8A-C198-D5F2-FDC8-CE617BBB70E2}"/>
              </a:ext>
            </a:extLst>
          </p:cNvPr>
          <p:cNvPicPr>
            <a:picLocks noChangeAspect="1"/>
          </p:cNvPicPr>
          <p:nvPr/>
        </p:nvPicPr>
        <p:blipFill>
          <a:blip r:embed="rId9">
            <a:alphaModFix amt="28000"/>
          </a:blip>
          <a:stretch>
            <a:fillRect/>
          </a:stretch>
        </p:blipFill>
        <p:spPr>
          <a:xfrm rot="787374">
            <a:off x="11365991" y="79563"/>
            <a:ext cx="731520" cy="1249048"/>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640080" y="502920"/>
            <a:ext cx="8229600" cy="640080"/>
          </a:xfrm>
          <a:prstGeom prst="rect">
            <a:avLst/>
          </a:prstGeom>
          <a:noFill/>
          <a:ln/>
        </p:spPr>
        <p:txBody>
          <a:bodyPr wrap="square" lIns="0" tIns="0" rIns="0" bIns="0" rtlCol="0" anchor="ctr"/>
          <a:lstStyle/>
          <a:p>
            <a:pPr marL="0" indent="0">
              <a:buNone/>
            </a:pPr>
            <a:r>
              <a:rPr lang="en-US" sz="3200" b="1" dirty="0">
                <a:solidFill>
                  <a:srgbClr val="0B2545"/>
                </a:solidFill>
                <a:latin typeface="Cambria" pitchFamily="34" charset="0"/>
                <a:ea typeface="Cambria" pitchFamily="34" charset="-122"/>
                <a:cs typeface="Cambria" pitchFamily="34" charset="-120"/>
              </a:rPr>
              <a:t>Basket-and-Item Setup</a:t>
            </a:r>
            <a:endParaRPr lang="en-US" sz="3200" dirty="0"/>
          </a:p>
        </p:txBody>
      </p:sp>
      <p:sp>
        <p:nvSpPr>
          <p:cNvPr id="5" name="Shape 3"/>
          <p:cNvSpPr/>
          <p:nvPr/>
        </p:nvSpPr>
        <p:spPr>
          <a:xfrm>
            <a:off x="1339596" y="1783080"/>
            <a:ext cx="2834640" cy="1920240"/>
          </a:xfrm>
          <a:prstGeom prst="roundRect">
            <a:avLst>
              <a:gd name="adj" fmla="val 5714"/>
            </a:avLst>
          </a:prstGeom>
          <a:solidFill>
            <a:srgbClr val="F7FAFA"/>
          </a:solidFill>
          <a:ln/>
          <a:effectLst>
            <a:outerShdw blurRad="76200" dist="25400" dir="5400000" algn="bl" rotWithShape="0">
              <a:srgbClr val="000000">
                <a:alpha val="8000"/>
              </a:srgbClr>
            </a:outerShdw>
          </a:effectLst>
        </p:spPr>
      </p:sp>
      <p:sp>
        <p:nvSpPr>
          <p:cNvPr id="6" name="Shape 4"/>
          <p:cNvSpPr/>
          <p:nvPr/>
        </p:nvSpPr>
        <p:spPr>
          <a:xfrm>
            <a:off x="2345436" y="2057400"/>
            <a:ext cx="822960" cy="822960"/>
          </a:xfrm>
          <a:prstGeom prst="ellipse">
            <a:avLst/>
          </a:prstGeom>
          <a:solidFill>
            <a:srgbClr val="DCEFEF"/>
          </a:solidFill>
          <a:ln/>
        </p:spPr>
      </p:sp>
      <p:pic>
        <p:nvPicPr>
          <p:cNvPr id="7" name="Image 0" descr="assets/FaHospital_teal.png"/>
          <p:cNvPicPr>
            <a:picLocks noChangeAspect="1"/>
          </p:cNvPicPr>
          <p:nvPr/>
        </p:nvPicPr>
        <p:blipFill>
          <a:blip r:embed="rId3"/>
          <a:stretch>
            <a:fillRect/>
          </a:stretch>
        </p:blipFill>
        <p:spPr>
          <a:xfrm>
            <a:off x="2559406" y="2271370"/>
            <a:ext cx="395021" cy="395021"/>
          </a:xfrm>
          <a:prstGeom prst="rect">
            <a:avLst/>
          </a:prstGeom>
        </p:spPr>
      </p:pic>
      <p:sp>
        <p:nvSpPr>
          <p:cNvPr id="8" name="Text 5"/>
          <p:cNvSpPr/>
          <p:nvPr/>
        </p:nvSpPr>
        <p:spPr>
          <a:xfrm>
            <a:off x="1339596" y="2971800"/>
            <a:ext cx="2834640" cy="365760"/>
          </a:xfrm>
          <a:prstGeom prst="rect">
            <a:avLst/>
          </a:prstGeom>
          <a:noFill/>
          <a:ln/>
        </p:spPr>
        <p:txBody>
          <a:bodyPr wrap="square" lIns="0" tIns="0" rIns="0" bIns="0" rtlCol="0" anchor="ctr"/>
          <a:lstStyle/>
          <a:p>
            <a:pPr marL="0" indent="0" algn="ctr">
              <a:buNone/>
            </a:pPr>
            <a:r>
              <a:rPr lang="en-US" sz="1800" b="1" dirty="0">
                <a:solidFill>
                  <a:srgbClr val="0B2545"/>
                </a:solidFill>
                <a:latin typeface="Cambria" pitchFamily="34" charset="0"/>
                <a:ea typeface="Cambria" pitchFamily="34" charset="-122"/>
                <a:cs typeface="Cambria" pitchFamily="34" charset="-120"/>
              </a:rPr>
              <a:t>Basket</a:t>
            </a:r>
            <a:endParaRPr lang="en-US" sz="1800" dirty="0"/>
          </a:p>
        </p:txBody>
      </p:sp>
      <p:sp>
        <p:nvSpPr>
          <p:cNvPr id="9" name="Text 6"/>
          <p:cNvSpPr/>
          <p:nvPr/>
        </p:nvSpPr>
        <p:spPr>
          <a:xfrm>
            <a:off x="1476756" y="3319272"/>
            <a:ext cx="2560320" cy="365760"/>
          </a:xfrm>
          <a:prstGeom prst="rect">
            <a:avLst/>
          </a:prstGeom>
          <a:noFill/>
          <a:ln/>
        </p:spPr>
        <p:txBody>
          <a:bodyPr wrap="square" lIns="0" tIns="0" rIns="0" bIns="0" rtlCol="0" anchor="ctr"/>
          <a:lstStyle/>
          <a:p>
            <a:pPr marL="0" indent="0" algn="ctr">
              <a:buNone/>
            </a:pPr>
            <a:r>
              <a:rPr lang="en-US" sz="1250" dirty="0">
                <a:solidFill>
                  <a:srgbClr val="445566"/>
                </a:solidFill>
                <a:latin typeface="Calibri" pitchFamily="34" charset="0"/>
                <a:ea typeface="Calibri" pitchFamily="34" charset="-122"/>
                <a:cs typeface="Calibri" pitchFamily="34" charset="-120"/>
              </a:rPr>
              <a:t>One hospital encounter</a:t>
            </a:r>
            <a:endParaRPr lang="en-US" sz="1250" dirty="0"/>
          </a:p>
        </p:txBody>
      </p:sp>
      <p:pic>
        <p:nvPicPr>
          <p:cNvPr id="10" name="Image 1" descr="assets/FaChartLine_slate.png"/>
          <p:cNvPicPr>
            <a:picLocks noChangeAspect="1"/>
          </p:cNvPicPr>
          <p:nvPr/>
        </p:nvPicPr>
        <p:blipFill>
          <a:blip r:embed="rId4"/>
          <a:stretch>
            <a:fillRect/>
          </a:stretch>
        </p:blipFill>
        <p:spPr>
          <a:xfrm>
            <a:off x="4279392" y="2560320"/>
            <a:ext cx="292608" cy="292608"/>
          </a:xfrm>
          <a:prstGeom prst="rect">
            <a:avLst/>
          </a:prstGeom>
        </p:spPr>
      </p:pic>
      <p:sp>
        <p:nvSpPr>
          <p:cNvPr id="11" name="Shape 7"/>
          <p:cNvSpPr/>
          <p:nvPr/>
        </p:nvSpPr>
        <p:spPr>
          <a:xfrm>
            <a:off x="4677156" y="1783080"/>
            <a:ext cx="2834640" cy="1920240"/>
          </a:xfrm>
          <a:prstGeom prst="roundRect">
            <a:avLst>
              <a:gd name="adj" fmla="val 5714"/>
            </a:avLst>
          </a:prstGeom>
          <a:solidFill>
            <a:srgbClr val="F7FAFA"/>
          </a:solidFill>
          <a:ln/>
          <a:effectLst>
            <a:outerShdw blurRad="76200" dist="25400" dir="5400000" algn="bl" rotWithShape="0">
              <a:srgbClr val="000000">
                <a:alpha val="8000"/>
              </a:srgbClr>
            </a:outerShdw>
          </a:effectLst>
        </p:spPr>
      </p:sp>
      <p:sp>
        <p:nvSpPr>
          <p:cNvPr id="12" name="Shape 8"/>
          <p:cNvSpPr/>
          <p:nvPr/>
        </p:nvSpPr>
        <p:spPr>
          <a:xfrm>
            <a:off x="5682996" y="2057400"/>
            <a:ext cx="822960" cy="822960"/>
          </a:xfrm>
          <a:prstGeom prst="ellipse">
            <a:avLst/>
          </a:prstGeom>
          <a:solidFill>
            <a:srgbClr val="DCEFEF"/>
          </a:solidFill>
          <a:ln/>
        </p:spPr>
      </p:sp>
      <p:pic>
        <p:nvPicPr>
          <p:cNvPr id="13" name="Image 2" descr="assets/FaListOl_teal.png"/>
          <p:cNvPicPr>
            <a:picLocks noChangeAspect="1"/>
          </p:cNvPicPr>
          <p:nvPr/>
        </p:nvPicPr>
        <p:blipFill>
          <a:blip r:embed="rId5"/>
          <a:stretch>
            <a:fillRect/>
          </a:stretch>
        </p:blipFill>
        <p:spPr>
          <a:xfrm>
            <a:off x="5896966" y="2271370"/>
            <a:ext cx="395021" cy="395021"/>
          </a:xfrm>
          <a:prstGeom prst="rect">
            <a:avLst/>
          </a:prstGeom>
        </p:spPr>
      </p:pic>
      <p:sp>
        <p:nvSpPr>
          <p:cNvPr id="14" name="Text 9"/>
          <p:cNvSpPr/>
          <p:nvPr/>
        </p:nvSpPr>
        <p:spPr>
          <a:xfrm>
            <a:off x="4677156" y="2971800"/>
            <a:ext cx="2834640" cy="365760"/>
          </a:xfrm>
          <a:prstGeom prst="rect">
            <a:avLst/>
          </a:prstGeom>
          <a:noFill/>
          <a:ln/>
        </p:spPr>
        <p:txBody>
          <a:bodyPr wrap="square" lIns="0" tIns="0" rIns="0" bIns="0" rtlCol="0" anchor="ctr"/>
          <a:lstStyle/>
          <a:p>
            <a:pPr marL="0" indent="0" algn="ctr">
              <a:buNone/>
            </a:pPr>
            <a:r>
              <a:rPr lang="en-US" sz="1800" b="1" dirty="0">
                <a:solidFill>
                  <a:srgbClr val="0B2545"/>
                </a:solidFill>
                <a:latin typeface="Cambria" pitchFamily="34" charset="0"/>
                <a:ea typeface="Cambria" pitchFamily="34" charset="-122"/>
                <a:cs typeface="Cambria" pitchFamily="34" charset="-120"/>
              </a:rPr>
              <a:t>Items</a:t>
            </a:r>
            <a:endParaRPr lang="en-US" sz="1800" dirty="0"/>
          </a:p>
        </p:txBody>
      </p:sp>
      <p:sp>
        <p:nvSpPr>
          <p:cNvPr id="15" name="Text 10"/>
          <p:cNvSpPr/>
          <p:nvPr/>
        </p:nvSpPr>
        <p:spPr>
          <a:xfrm>
            <a:off x="4814316" y="3319272"/>
            <a:ext cx="2560320" cy="365760"/>
          </a:xfrm>
          <a:prstGeom prst="rect">
            <a:avLst/>
          </a:prstGeom>
          <a:noFill/>
          <a:ln/>
        </p:spPr>
        <p:txBody>
          <a:bodyPr wrap="square" lIns="0" tIns="0" rIns="0" bIns="0" rtlCol="0" anchor="ctr"/>
          <a:lstStyle/>
          <a:p>
            <a:pPr marL="0" indent="0" algn="ctr">
              <a:buNone/>
            </a:pPr>
            <a:r>
              <a:rPr lang="en-US" sz="1250" dirty="0">
                <a:solidFill>
                  <a:srgbClr val="445566"/>
                </a:solidFill>
                <a:latin typeface="Calibri" pitchFamily="34" charset="0"/>
                <a:ea typeface="Calibri" pitchFamily="34" charset="-122"/>
                <a:cs typeface="Calibri" pitchFamily="34" charset="-120"/>
              </a:rPr>
              <a:t>Patient / hospital attributes</a:t>
            </a:r>
            <a:endParaRPr lang="en-US" sz="1250" dirty="0"/>
          </a:p>
        </p:txBody>
      </p:sp>
      <p:pic>
        <p:nvPicPr>
          <p:cNvPr id="16" name="Image 3" descr="assets/FaChartLine_slate.png"/>
          <p:cNvPicPr>
            <a:picLocks noChangeAspect="1"/>
          </p:cNvPicPr>
          <p:nvPr/>
        </p:nvPicPr>
        <p:blipFill>
          <a:blip r:embed="rId4"/>
          <a:stretch>
            <a:fillRect/>
          </a:stretch>
        </p:blipFill>
        <p:spPr>
          <a:xfrm>
            <a:off x="7616952" y="2560320"/>
            <a:ext cx="292608" cy="292608"/>
          </a:xfrm>
          <a:prstGeom prst="rect">
            <a:avLst/>
          </a:prstGeom>
        </p:spPr>
      </p:pic>
      <p:sp>
        <p:nvSpPr>
          <p:cNvPr id="17" name="Shape 11"/>
          <p:cNvSpPr/>
          <p:nvPr/>
        </p:nvSpPr>
        <p:spPr>
          <a:xfrm>
            <a:off x="8014716" y="1783080"/>
            <a:ext cx="2834640" cy="1920240"/>
          </a:xfrm>
          <a:prstGeom prst="roundRect">
            <a:avLst>
              <a:gd name="adj" fmla="val 5714"/>
            </a:avLst>
          </a:prstGeom>
          <a:solidFill>
            <a:srgbClr val="DCEFEF"/>
          </a:solidFill>
          <a:ln/>
          <a:effectLst>
            <a:outerShdw blurRad="76200" dist="25400" dir="5400000" algn="bl" rotWithShape="0">
              <a:srgbClr val="000000">
                <a:alpha val="8000"/>
              </a:srgbClr>
            </a:outerShdw>
          </a:effectLst>
        </p:spPr>
      </p:sp>
      <p:sp>
        <p:nvSpPr>
          <p:cNvPr id="18" name="Shape 12"/>
          <p:cNvSpPr/>
          <p:nvPr/>
        </p:nvSpPr>
        <p:spPr>
          <a:xfrm>
            <a:off x="9020556" y="2057400"/>
            <a:ext cx="822960" cy="822960"/>
          </a:xfrm>
          <a:prstGeom prst="ellipse">
            <a:avLst/>
          </a:prstGeom>
          <a:solidFill>
            <a:srgbClr val="FFFFFF"/>
          </a:solidFill>
          <a:ln/>
        </p:spPr>
      </p:sp>
      <p:pic>
        <p:nvPicPr>
          <p:cNvPr id="19" name="Image 4" descr="assets/FaUserClock_teal.png"/>
          <p:cNvPicPr>
            <a:picLocks noChangeAspect="1"/>
          </p:cNvPicPr>
          <p:nvPr/>
        </p:nvPicPr>
        <p:blipFill>
          <a:blip r:embed="rId6"/>
          <a:stretch>
            <a:fillRect/>
          </a:stretch>
        </p:blipFill>
        <p:spPr>
          <a:xfrm>
            <a:off x="9234526" y="2271370"/>
            <a:ext cx="395021" cy="395021"/>
          </a:xfrm>
          <a:prstGeom prst="rect">
            <a:avLst/>
          </a:prstGeom>
        </p:spPr>
      </p:pic>
      <p:sp>
        <p:nvSpPr>
          <p:cNvPr id="20" name="Text 13"/>
          <p:cNvSpPr/>
          <p:nvPr/>
        </p:nvSpPr>
        <p:spPr>
          <a:xfrm>
            <a:off x="8014716" y="2971800"/>
            <a:ext cx="2834640" cy="365760"/>
          </a:xfrm>
          <a:prstGeom prst="rect">
            <a:avLst/>
          </a:prstGeom>
          <a:noFill/>
          <a:ln/>
        </p:spPr>
        <p:txBody>
          <a:bodyPr wrap="square" lIns="0" tIns="0" rIns="0" bIns="0" rtlCol="0" anchor="ctr"/>
          <a:lstStyle/>
          <a:p>
            <a:pPr marL="0" indent="0" algn="ctr">
              <a:buNone/>
            </a:pPr>
            <a:r>
              <a:rPr lang="en-US" sz="1800" b="1" dirty="0">
                <a:solidFill>
                  <a:srgbClr val="0B2545"/>
                </a:solidFill>
                <a:latin typeface="Cambria" pitchFamily="34" charset="0"/>
                <a:ea typeface="Cambria" pitchFamily="34" charset="-122"/>
                <a:cs typeface="Cambria" pitchFamily="34" charset="-120"/>
              </a:rPr>
              <a:t>Outcome</a:t>
            </a:r>
            <a:endParaRPr lang="en-US" sz="1800" dirty="0"/>
          </a:p>
        </p:txBody>
      </p:sp>
      <p:sp>
        <p:nvSpPr>
          <p:cNvPr id="21" name="Text 14"/>
          <p:cNvSpPr/>
          <p:nvPr/>
        </p:nvSpPr>
        <p:spPr>
          <a:xfrm>
            <a:off x="8151876" y="3319272"/>
            <a:ext cx="2560320" cy="365760"/>
          </a:xfrm>
          <a:prstGeom prst="rect">
            <a:avLst/>
          </a:prstGeom>
          <a:noFill/>
          <a:ln/>
        </p:spPr>
        <p:txBody>
          <a:bodyPr wrap="square" lIns="0" tIns="0" rIns="0" bIns="0" rtlCol="0" anchor="ctr"/>
          <a:lstStyle/>
          <a:p>
            <a:pPr marL="0" indent="0" algn="ctr">
              <a:buNone/>
            </a:pPr>
            <a:r>
              <a:rPr lang="en-US" sz="1250" dirty="0">
                <a:solidFill>
                  <a:srgbClr val="445566"/>
                </a:solidFill>
                <a:latin typeface="Calibri" pitchFamily="34" charset="0"/>
                <a:ea typeface="Calibri" pitchFamily="34" charset="-122"/>
                <a:cs typeface="Calibri" pitchFamily="34" charset="-120"/>
              </a:rPr>
              <a:t>readmitted = &lt;30</a:t>
            </a:r>
            <a:endParaRPr lang="en-US" sz="1250" dirty="0"/>
          </a:p>
        </p:txBody>
      </p:sp>
      <p:sp>
        <p:nvSpPr>
          <p:cNvPr id="22" name="Shape 15"/>
          <p:cNvSpPr/>
          <p:nvPr/>
        </p:nvSpPr>
        <p:spPr>
          <a:xfrm>
            <a:off x="1339596" y="4114800"/>
            <a:ext cx="9509760" cy="868680"/>
          </a:xfrm>
          <a:prstGeom prst="roundRect">
            <a:avLst>
              <a:gd name="adj" fmla="val 10526"/>
            </a:avLst>
          </a:prstGeom>
          <a:solidFill>
            <a:srgbClr val="0B2545"/>
          </a:solidFill>
          <a:ln/>
        </p:spPr>
      </p:sp>
      <p:sp>
        <p:nvSpPr>
          <p:cNvPr id="23" name="Text 16"/>
          <p:cNvSpPr/>
          <p:nvPr/>
        </p:nvSpPr>
        <p:spPr>
          <a:xfrm>
            <a:off x="1613916" y="4114800"/>
            <a:ext cx="8961120" cy="868680"/>
          </a:xfrm>
          <a:prstGeom prst="rect">
            <a:avLst/>
          </a:prstGeom>
          <a:noFill/>
          <a:ln/>
        </p:spPr>
        <p:txBody>
          <a:bodyPr wrap="square" lIns="0" tIns="0" rIns="0" bIns="0" rtlCol="0" anchor="ctr"/>
          <a:lstStyle/>
          <a:p>
            <a:pPr marL="0" indent="0">
              <a:buNone/>
            </a:pPr>
            <a:r>
              <a:rPr lang="en-US" sz="1450" b="1" dirty="0">
                <a:solidFill>
                  <a:srgbClr val="02C39A"/>
                </a:solidFill>
                <a:latin typeface="Calibri" pitchFamily="34" charset="0"/>
                <a:ea typeface="Calibri" pitchFamily="34" charset="-122"/>
                <a:cs typeface="Calibri" pitchFamily="34" charset="-120"/>
              </a:rPr>
              <a:t>Example:  </a:t>
            </a:r>
            <a:r>
              <a:rPr lang="en-US" sz="1450" dirty="0">
                <a:solidFill>
                  <a:srgbClr val="FFFFFF"/>
                </a:solidFill>
                <a:latin typeface="Calibri" pitchFamily="34" charset="0"/>
                <a:ea typeface="Calibri" pitchFamily="34" charset="-122"/>
                <a:cs typeface="Calibri" pitchFamily="34" charset="-120"/>
              </a:rPr>
              <a:t>number_inpatient high + A1C missing  →  early readmission</a:t>
            </a:r>
            <a:endParaRPr lang="en-US" sz="1450" dirty="0"/>
          </a:p>
        </p:txBody>
      </p:sp>
      <p:pic>
        <p:nvPicPr>
          <p:cNvPr id="25" name="Image 1" descr="assets/ribbon_real_cropped.png">
            <a:extLst>
              <a:ext uri="{FF2B5EF4-FFF2-40B4-BE49-F238E27FC236}">
                <a16:creationId xmlns:a16="http://schemas.microsoft.com/office/drawing/2014/main" id="{DD930071-4215-3B7E-2A9A-9E0839ABC73F}"/>
              </a:ext>
            </a:extLst>
          </p:cNvPr>
          <p:cNvPicPr>
            <a:picLocks noChangeAspect="1"/>
          </p:cNvPicPr>
          <p:nvPr/>
        </p:nvPicPr>
        <p:blipFill>
          <a:blip r:embed="rId7">
            <a:alphaModFix amt="28000"/>
          </a:blip>
          <a:stretch>
            <a:fillRect/>
          </a:stretch>
        </p:blipFill>
        <p:spPr>
          <a:xfrm rot="-360000">
            <a:off x="137890" y="5574141"/>
            <a:ext cx="731520" cy="1249048"/>
          </a:xfrm>
          <a:prstGeom prst="rect">
            <a:avLst/>
          </a:prstGeom>
        </p:spPr>
      </p:pic>
      <p:pic>
        <p:nvPicPr>
          <p:cNvPr id="27" name="Image 1" descr="assets/ribbon_real_cropped.png">
            <a:extLst>
              <a:ext uri="{FF2B5EF4-FFF2-40B4-BE49-F238E27FC236}">
                <a16:creationId xmlns:a16="http://schemas.microsoft.com/office/drawing/2014/main" id="{9937ECC8-0AB6-DD0F-A04B-7A4161FCFCA7}"/>
              </a:ext>
            </a:extLst>
          </p:cNvPr>
          <p:cNvPicPr>
            <a:picLocks noChangeAspect="1"/>
          </p:cNvPicPr>
          <p:nvPr/>
        </p:nvPicPr>
        <p:blipFill>
          <a:blip r:embed="rId7">
            <a:alphaModFix amt="28000"/>
          </a:blip>
          <a:stretch>
            <a:fillRect/>
          </a:stretch>
        </p:blipFill>
        <p:spPr>
          <a:xfrm rot="-360000">
            <a:off x="11365993" y="52305"/>
            <a:ext cx="731520" cy="1249048"/>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640080" y="502920"/>
            <a:ext cx="7315200" cy="640080"/>
          </a:xfrm>
          <a:prstGeom prst="rect">
            <a:avLst/>
          </a:prstGeom>
          <a:noFill/>
          <a:ln/>
        </p:spPr>
        <p:txBody>
          <a:bodyPr wrap="square" lIns="0" tIns="0" rIns="0" bIns="0" rtlCol="0" anchor="ctr"/>
          <a:lstStyle/>
          <a:p>
            <a:pPr marL="0" indent="0">
              <a:buNone/>
            </a:pPr>
            <a:r>
              <a:rPr lang="en-US" sz="3200" b="1" dirty="0">
                <a:solidFill>
                  <a:srgbClr val="0B2545"/>
                </a:solidFill>
                <a:latin typeface="Cambria" pitchFamily="34" charset="0"/>
                <a:ea typeface="Cambria" pitchFamily="34" charset="-122"/>
                <a:cs typeface="Cambria" pitchFamily="34" charset="-120"/>
              </a:rPr>
              <a:t>Preprocessing</a:t>
            </a:r>
            <a:endParaRPr lang="en-US" sz="3200" dirty="0"/>
          </a:p>
        </p:txBody>
      </p:sp>
      <p:sp>
        <p:nvSpPr>
          <p:cNvPr id="5" name="Shape 3"/>
          <p:cNvSpPr/>
          <p:nvPr/>
        </p:nvSpPr>
        <p:spPr>
          <a:xfrm>
            <a:off x="640080" y="1783080"/>
            <a:ext cx="10881360" cy="914400"/>
          </a:xfrm>
          <a:prstGeom prst="roundRect">
            <a:avLst>
              <a:gd name="adj" fmla="val 10000"/>
            </a:avLst>
          </a:prstGeom>
          <a:solidFill>
            <a:srgbClr val="F7FAFA"/>
          </a:solidFill>
          <a:ln/>
          <a:effectLst>
            <a:outerShdw blurRad="76200" dist="25400" dir="5400000" algn="bl" rotWithShape="0">
              <a:srgbClr val="000000">
                <a:alpha val="7000"/>
              </a:srgbClr>
            </a:outerShdw>
          </a:effectLst>
        </p:spPr>
      </p:sp>
      <p:sp>
        <p:nvSpPr>
          <p:cNvPr id="6" name="Shape 4"/>
          <p:cNvSpPr/>
          <p:nvPr/>
        </p:nvSpPr>
        <p:spPr>
          <a:xfrm>
            <a:off x="868680" y="1892808"/>
            <a:ext cx="694944" cy="694944"/>
          </a:xfrm>
          <a:prstGeom prst="ellipse">
            <a:avLst/>
          </a:prstGeom>
          <a:solidFill>
            <a:srgbClr val="DCEFEF"/>
          </a:solidFill>
          <a:ln/>
        </p:spPr>
      </p:sp>
      <p:pic>
        <p:nvPicPr>
          <p:cNvPr id="7" name="Image 0" descr="assets/FaFilter_teal.png"/>
          <p:cNvPicPr>
            <a:picLocks noChangeAspect="1"/>
          </p:cNvPicPr>
          <p:nvPr/>
        </p:nvPicPr>
        <p:blipFill>
          <a:blip r:embed="rId3"/>
          <a:stretch>
            <a:fillRect/>
          </a:stretch>
        </p:blipFill>
        <p:spPr>
          <a:xfrm>
            <a:off x="1049365" y="2073493"/>
            <a:ext cx="333573" cy="333573"/>
          </a:xfrm>
          <a:prstGeom prst="rect">
            <a:avLst/>
          </a:prstGeom>
        </p:spPr>
      </p:pic>
      <p:sp>
        <p:nvSpPr>
          <p:cNvPr id="8" name="Text 5"/>
          <p:cNvSpPr/>
          <p:nvPr/>
        </p:nvSpPr>
        <p:spPr>
          <a:xfrm>
            <a:off x="1828800" y="1783080"/>
            <a:ext cx="9418320" cy="914400"/>
          </a:xfrm>
          <a:prstGeom prst="rect">
            <a:avLst/>
          </a:prstGeom>
          <a:noFill/>
          <a:ln/>
        </p:spPr>
        <p:txBody>
          <a:bodyPr wrap="square" lIns="0" tIns="0" rIns="0" bIns="0" rtlCol="0" anchor="ctr"/>
          <a:lstStyle/>
          <a:p>
            <a:pPr marL="0" indent="0">
              <a:buNone/>
            </a:pPr>
            <a:r>
              <a:rPr lang="en-US" sz="1700" dirty="0">
                <a:solidFill>
                  <a:srgbClr val="445566"/>
                </a:solidFill>
                <a:latin typeface="Calibri" pitchFamily="34" charset="0"/>
                <a:ea typeface="Calibri" pitchFamily="34" charset="-122"/>
                <a:cs typeface="Calibri" pitchFamily="34" charset="-120"/>
              </a:rPr>
              <a:t>Selected meaningful healthcare variables</a:t>
            </a:r>
            <a:endParaRPr lang="en-US" sz="1700" dirty="0"/>
          </a:p>
        </p:txBody>
      </p:sp>
      <p:sp>
        <p:nvSpPr>
          <p:cNvPr id="9" name="Shape 6"/>
          <p:cNvSpPr/>
          <p:nvPr/>
        </p:nvSpPr>
        <p:spPr>
          <a:xfrm>
            <a:off x="640080" y="2880360"/>
            <a:ext cx="10881360" cy="914400"/>
          </a:xfrm>
          <a:prstGeom prst="roundRect">
            <a:avLst>
              <a:gd name="adj" fmla="val 10000"/>
            </a:avLst>
          </a:prstGeom>
          <a:solidFill>
            <a:srgbClr val="F7FAFA"/>
          </a:solidFill>
          <a:ln/>
          <a:effectLst>
            <a:outerShdw blurRad="76200" dist="25400" dir="5400000" algn="bl" rotWithShape="0">
              <a:srgbClr val="000000">
                <a:alpha val="7000"/>
              </a:srgbClr>
            </a:outerShdw>
          </a:effectLst>
        </p:spPr>
      </p:sp>
      <p:sp>
        <p:nvSpPr>
          <p:cNvPr id="10" name="Shape 7"/>
          <p:cNvSpPr/>
          <p:nvPr/>
        </p:nvSpPr>
        <p:spPr>
          <a:xfrm>
            <a:off x="868680" y="2990088"/>
            <a:ext cx="694944" cy="694944"/>
          </a:xfrm>
          <a:prstGeom prst="ellipse">
            <a:avLst/>
          </a:prstGeom>
          <a:solidFill>
            <a:srgbClr val="DCEFEF"/>
          </a:solidFill>
          <a:ln/>
        </p:spPr>
      </p:sp>
      <p:pic>
        <p:nvPicPr>
          <p:cNvPr id="11" name="Image 1" descr="assets/FaLayerGroup_teal.png"/>
          <p:cNvPicPr>
            <a:picLocks noChangeAspect="1"/>
          </p:cNvPicPr>
          <p:nvPr/>
        </p:nvPicPr>
        <p:blipFill>
          <a:blip r:embed="rId4"/>
          <a:stretch>
            <a:fillRect/>
          </a:stretch>
        </p:blipFill>
        <p:spPr>
          <a:xfrm>
            <a:off x="1049365" y="3170773"/>
            <a:ext cx="333573" cy="333573"/>
          </a:xfrm>
          <a:prstGeom prst="rect">
            <a:avLst/>
          </a:prstGeom>
        </p:spPr>
      </p:pic>
      <p:sp>
        <p:nvSpPr>
          <p:cNvPr id="12" name="Text 8"/>
          <p:cNvSpPr/>
          <p:nvPr/>
        </p:nvSpPr>
        <p:spPr>
          <a:xfrm>
            <a:off x="1828800" y="2880360"/>
            <a:ext cx="9418320" cy="914400"/>
          </a:xfrm>
          <a:prstGeom prst="rect">
            <a:avLst/>
          </a:prstGeom>
          <a:noFill/>
          <a:ln/>
        </p:spPr>
        <p:txBody>
          <a:bodyPr wrap="square" lIns="0" tIns="0" rIns="0" bIns="0" rtlCol="0" anchor="ctr"/>
          <a:lstStyle/>
          <a:p>
            <a:pPr marL="0" indent="0">
              <a:buNone/>
            </a:pPr>
            <a:r>
              <a:rPr lang="en-US" sz="1700" dirty="0">
                <a:solidFill>
                  <a:srgbClr val="445566"/>
                </a:solidFill>
                <a:latin typeface="Calibri" pitchFamily="34" charset="0"/>
                <a:ea typeface="Calibri" pitchFamily="34" charset="-122"/>
                <a:cs typeface="Calibri" pitchFamily="34" charset="-120"/>
              </a:rPr>
              <a:t>Moved IDs / code-heavy fields out of mining</a:t>
            </a:r>
            <a:endParaRPr lang="en-US" sz="1700" dirty="0"/>
          </a:p>
        </p:txBody>
      </p:sp>
      <p:sp>
        <p:nvSpPr>
          <p:cNvPr id="13" name="Shape 9"/>
          <p:cNvSpPr/>
          <p:nvPr/>
        </p:nvSpPr>
        <p:spPr>
          <a:xfrm>
            <a:off x="640080" y="3977640"/>
            <a:ext cx="10881360" cy="914400"/>
          </a:xfrm>
          <a:prstGeom prst="roundRect">
            <a:avLst>
              <a:gd name="adj" fmla="val 10000"/>
            </a:avLst>
          </a:prstGeom>
          <a:solidFill>
            <a:srgbClr val="F7FAFA"/>
          </a:solidFill>
          <a:ln/>
          <a:effectLst>
            <a:outerShdw blurRad="76200" dist="25400" dir="5400000" algn="bl" rotWithShape="0">
              <a:srgbClr val="000000">
                <a:alpha val="7000"/>
              </a:srgbClr>
            </a:outerShdw>
          </a:effectLst>
        </p:spPr>
      </p:sp>
      <p:sp>
        <p:nvSpPr>
          <p:cNvPr id="14" name="Shape 10"/>
          <p:cNvSpPr/>
          <p:nvPr/>
        </p:nvSpPr>
        <p:spPr>
          <a:xfrm>
            <a:off x="868680" y="4087368"/>
            <a:ext cx="694944" cy="694944"/>
          </a:xfrm>
          <a:prstGeom prst="ellipse">
            <a:avLst/>
          </a:prstGeom>
          <a:solidFill>
            <a:srgbClr val="DCEFEF"/>
          </a:solidFill>
          <a:ln/>
        </p:spPr>
      </p:sp>
      <p:pic>
        <p:nvPicPr>
          <p:cNvPr id="15" name="Image 2" descr="assets/FaExclamationTriangle_teal.png"/>
          <p:cNvPicPr>
            <a:picLocks noChangeAspect="1"/>
          </p:cNvPicPr>
          <p:nvPr/>
        </p:nvPicPr>
        <p:blipFill>
          <a:blip r:embed="rId5"/>
          <a:stretch>
            <a:fillRect/>
          </a:stretch>
        </p:blipFill>
        <p:spPr>
          <a:xfrm>
            <a:off x="1049365" y="4268053"/>
            <a:ext cx="333573" cy="333573"/>
          </a:xfrm>
          <a:prstGeom prst="rect">
            <a:avLst/>
          </a:prstGeom>
        </p:spPr>
      </p:pic>
      <p:sp>
        <p:nvSpPr>
          <p:cNvPr id="16" name="Text 11"/>
          <p:cNvSpPr/>
          <p:nvPr/>
        </p:nvSpPr>
        <p:spPr>
          <a:xfrm>
            <a:off x="1828800" y="3977640"/>
            <a:ext cx="9418320" cy="914400"/>
          </a:xfrm>
          <a:prstGeom prst="rect">
            <a:avLst/>
          </a:prstGeom>
          <a:noFill/>
          <a:ln/>
        </p:spPr>
        <p:txBody>
          <a:bodyPr wrap="square" lIns="0" tIns="0" rIns="0" bIns="0" rtlCol="0" anchor="ctr"/>
          <a:lstStyle/>
          <a:p>
            <a:pPr marL="0" indent="0">
              <a:buNone/>
            </a:pPr>
            <a:r>
              <a:rPr lang="en-US" sz="1700" dirty="0">
                <a:solidFill>
                  <a:srgbClr val="445566"/>
                </a:solidFill>
                <a:latin typeface="Calibri" pitchFamily="34" charset="0"/>
                <a:ea typeface="Calibri" pitchFamily="34" charset="-122"/>
                <a:cs typeface="Calibri" pitchFamily="34" charset="-120"/>
              </a:rPr>
              <a:t>Removed noisy rare medication columns</a:t>
            </a:r>
            <a:endParaRPr lang="en-US" sz="1700" dirty="0"/>
          </a:p>
        </p:txBody>
      </p:sp>
      <p:sp>
        <p:nvSpPr>
          <p:cNvPr id="17" name="Shape 12"/>
          <p:cNvSpPr/>
          <p:nvPr/>
        </p:nvSpPr>
        <p:spPr>
          <a:xfrm>
            <a:off x="640080" y="5074920"/>
            <a:ext cx="10881360" cy="914400"/>
          </a:xfrm>
          <a:prstGeom prst="roundRect">
            <a:avLst>
              <a:gd name="adj" fmla="val 10000"/>
            </a:avLst>
          </a:prstGeom>
          <a:solidFill>
            <a:srgbClr val="F7FAFA"/>
          </a:solidFill>
          <a:ln/>
          <a:effectLst>
            <a:outerShdw blurRad="76200" dist="25400" dir="5400000" algn="bl" rotWithShape="0">
              <a:srgbClr val="000000">
                <a:alpha val="7000"/>
              </a:srgbClr>
            </a:outerShdw>
          </a:effectLst>
        </p:spPr>
      </p:sp>
      <p:sp>
        <p:nvSpPr>
          <p:cNvPr id="18" name="Shape 13"/>
          <p:cNvSpPr/>
          <p:nvPr/>
        </p:nvSpPr>
        <p:spPr>
          <a:xfrm>
            <a:off x="868680" y="5184648"/>
            <a:ext cx="694944" cy="694944"/>
          </a:xfrm>
          <a:prstGeom prst="ellipse">
            <a:avLst/>
          </a:prstGeom>
          <a:solidFill>
            <a:srgbClr val="DCEFEF"/>
          </a:solidFill>
          <a:ln/>
        </p:spPr>
      </p:sp>
      <p:pic>
        <p:nvPicPr>
          <p:cNvPr id="19" name="Image 3" descr="assets/FaSitemap_teal.png"/>
          <p:cNvPicPr>
            <a:picLocks noChangeAspect="1"/>
          </p:cNvPicPr>
          <p:nvPr/>
        </p:nvPicPr>
        <p:blipFill>
          <a:blip r:embed="rId6"/>
          <a:stretch>
            <a:fillRect/>
          </a:stretch>
        </p:blipFill>
        <p:spPr>
          <a:xfrm>
            <a:off x="1049365" y="5365333"/>
            <a:ext cx="333573" cy="333573"/>
          </a:xfrm>
          <a:prstGeom prst="rect">
            <a:avLst/>
          </a:prstGeom>
        </p:spPr>
      </p:pic>
      <p:sp>
        <p:nvSpPr>
          <p:cNvPr id="20" name="Text 14"/>
          <p:cNvSpPr/>
          <p:nvPr/>
        </p:nvSpPr>
        <p:spPr>
          <a:xfrm>
            <a:off x="1828800" y="5074920"/>
            <a:ext cx="9418320" cy="914400"/>
          </a:xfrm>
          <a:prstGeom prst="rect">
            <a:avLst/>
          </a:prstGeom>
          <a:noFill/>
          <a:ln/>
        </p:spPr>
        <p:txBody>
          <a:bodyPr wrap="square" lIns="0" tIns="0" rIns="0" bIns="0" rtlCol="0" anchor="ctr"/>
          <a:lstStyle/>
          <a:p>
            <a:pPr marL="0" indent="0">
              <a:buNone/>
            </a:pPr>
            <a:r>
              <a:rPr lang="en-US" sz="1700" dirty="0">
                <a:solidFill>
                  <a:srgbClr val="445566"/>
                </a:solidFill>
                <a:latin typeface="Calibri" pitchFamily="34" charset="0"/>
                <a:ea typeface="Calibri" pitchFamily="34" charset="-122"/>
                <a:cs typeface="Calibri" pitchFamily="34" charset="-120"/>
              </a:rPr>
              <a:t>Discretized numeric variables</a:t>
            </a:r>
            <a:endParaRPr lang="en-US" sz="1700" dirty="0"/>
          </a:p>
        </p:txBody>
      </p:sp>
      <p:pic>
        <p:nvPicPr>
          <p:cNvPr id="22" name="Image 1" descr="assets/ribbon_real_cropped.png">
            <a:extLst>
              <a:ext uri="{FF2B5EF4-FFF2-40B4-BE49-F238E27FC236}">
                <a16:creationId xmlns:a16="http://schemas.microsoft.com/office/drawing/2014/main" id="{4F4C689D-5C2D-D6D2-C5B4-CBEB99CFDBD1}"/>
              </a:ext>
            </a:extLst>
          </p:cNvPr>
          <p:cNvPicPr>
            <a:picLocks noChangeAspect="1"/>
          </p:cNvPicPr>
          <p:nvPr/>
        </p:nvPicPr>
        <p:blipFill>
          <a:blip r:embed="rId7">
            <a:alphaModFix amt="28000"/>
          </a:blip>
          <a:stretch>
            <a:fillRect/>
          </a:stretch>
        </p:blipFill>
        <p:spPr>
          <a:xfrm rot="-360000">
            <a:off x="137890" y="5574141"/>
            <a:ext cx="731520" cy="1249048"/>
          </a:xfrm>
          <a:prstGeom prst="rect">
            <a:avLst/>
          </a:prstGeom>
        </p:spPr>
      </p:pic>
      <p:pic>
        <p:nvPicPr>
          <p:cNvPr id="24" name="Image 1" descr="assets/ribbon_real_cropped.png">
            <a:extLst>
              <a:ext uri="{FF2B5EF4-FFF2-40B4-BE49-F238E27FC236}">
                <a16:creationId xmlns:a16="http://schemas.microsoft.com/office/drawing/2014/main" id="{2752222C-997B-EF56-2624-2B55E58DEA37}"/>
              </a:ext>
            </a:extLst>
          </p:cNvPr>
          <p:cNvPicPr>
            <a:picLocks noChangeAspect="1"/>
          </p:cNvPicPr>
          <p:nvPr/>
        </p:nvPicPr>
        <p:blipFill>
          <a:blip r:embed="rId7">
            <a:alphaModFix amt="28000"/>
          </a:blip>
          <a:stretch>
            <a:fillRect/>
          </a:stretch>
        </p:blipFill>
        <p:spPr>
          <a:xfrm rot="-360000">
            <a:off x="11377324" y="14589"/>
            <a:ext cx="731520" cy="1249048"/>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640080" y="502920"/>
            <a:ext cx="7315200" cy="640080"/>
          </a:xfrm>
          <a:prstGeom prst="rect">
            <a:avLst/>
          </a:prstGeom>
          <a:noFill/>
          <a:ln/>
        </p:spPr>
        <p:txBody>
          <a:bodyPr wrap="square" lIns="0" tIns="0" rIns="0" bIns="0" rtlCol="0" anchor="ctr"/>
          <a:lstStyle/>
          <a:p>
            <a:pPr marL="0" indent="0">
              <a:buNone/>
            </a:pPr>
            <a:r>
              <a:rPr lang="en-US" sz="3200" b="1" dirty="0">
                <a:solidFill>
                  <a:srgbClr val="0B2545"/>
                </a:solidFill>
                <a:latin typeface="Cambria" pitchFamily="34" charset="0"/>
                <a:ea typeface="Cambria" pitchFamily="34" charset="-122"/>
                <a:cs typeface="Cambria" pitchFamily="34" charset="-120"/>
              </a:rPr>
              <a:t>Orange Workflow</a:t>
            </a:r>
            <a:endParaRPr lang="en-US" sz="3200" dirty="0"/>
          </a:p>
        </p:txBody>
      </p:sp>
      <p:sp>
        <p:nvSpPr>
          <p:cNvPr id="5" name="Shape 3"/>
          <p:cNvSpPr/>
          <p:nvPr/>
        </p:nvSpPr>
        <p:spPr>
          <a:xfrm>
            <a:off x="932687" y="1143001"/>
            <a:ext cx="10429069" cy="5085080"/>
          </a:xfrm>
          <a:prstGeom prst="roundRect">
            <a:avLst>
              <a:gd name="adj" fmla="val 2078"/>
            </a:avLst>
          </a:prstGeom>
          <a:solidFill>
            <a:srgbClr val="FBFDFD"/>
          </a:solidFill>
          <a:ln w="15875">
            <a:solidFill>
              <a:srgbClr val="9FC4C7"/>
            </a:solidFill>
            <a:prstDash val="dash"/>
          </a:ln>
        </p:spPr>
      </p:sp>
      <p:pic>
        <p:nvPicPr>
          <p:cNvPr id="6" name="Image 0" descr="assets/FaCamera_teal.png"/>
          <p:cNvPicPr>
            <a:picLocks noChangeAspect="1"/>
          </p:cNvPicPr>
          <p:nvPr/>
        </p:nvPicPr>
        <p:blipFill>
          <a:blip r:embed="rId3"/>
          <a:stretch>
            <a:fillRect/>
          </a:stretch>
        </p:blipFill>
        <p:spPr>
          <a:xfrm>
            <a:off x="5852160" y="2466137"/>
            <a:ext cx="457200" cy="457200"/>
          </a:xfrm>
          <a:prstGeom prst="rect">
            <a:avLst/>
          </a:prstGeom>
        </p:spPr>
      </p:pic>
      <p:sp>
        <p:nvSpPr>
          <p:cNvPr id="7" name="Text 4"/>
          <p:cNvSpPr/>
          <p:nvPr/>
        </p:nvSpPr>
        <p:spPr>
          <a:xfrm>
            <a:off x="1417320" y="2996489"/>
            <a:ext cx="9326880" cy="2124151"/>
          </a:xfrm>
          <a:prstGeom prst="rect">
            <a:avLst/>
          </a:prstGeom>
          <a:noFill/>
          <a:ln/>
        </p:spPr>
        <p:txBody>
          <a:bodyPr wrap="square" lIns="0" tIns="0" rIns="0" bIns="0" rtlCol="0" anchor="t"/>
          <a:lstStyle/>
          <a:p>
            <a:pPr marL="0" indent="0" algn="ctr">
              <a:buNone/>
            </a:pPr>
            <a:r>
              <a:rPr lang="en-US" sz="1100" i="1" dirty="0">
                <a:solidFill>
                  <a:srgbClr val="5B7A7E"/>
                </a:solidFill>
                <a:latin typeface="Calibri" pitchFamily="34" charset="0"/>
                <a:ea typeface="Calibri" pitchFamily="34" charset="-122"/>
                <a:cs typeface="Calibri" pitchFamily="34" charset="-120"/>
              </a:rPr>
              <a:t>PASTE HERE: Orange Canvas workflow screenshot</a:t>
            </a:r>
            <a:endParaRPr lang="en-US" sz="1100" dirty="0"/>
          </a:p>
          <a:p>
            <a:pPr marL="0" indent="0" algn="ctr">
              <a:buNone/>
            </a:pPr>
            <a:r>
              <a:rPr lang="en-US" sz="1100" i="1" dirty="0">
                <a:solidFill>
                  <a:srgbClr val="5B7A7E"/>
                </a:solidFill>
                <a:latin typeface="Calibri" pitchFamily="34" charset="0"/>
                <a:ea typeface="Calibri" pitchFamily="34" charset="-122"/>
                <a:cs typeface="Calibri" pitchFamily="34" charset="-120"/>
              </a:rPr>
              <a:t>(File → Select Columns → Discretize → Frequent Itemsets / Association Rules)</a:t>
            </a:r>
            <a:endParaRPr lang="en-US" sz="1100" dirty="0"/>
          </a:p>
        </p:txBody>
      </p:sp>
      <p:pic>
        <p:nvPicPr>
          <p:cNvPr id="10" name="Image 1" descr="assets/ribbon_real_cropped.png">
            <a:extLst>
              <a:ext uri="{FF2B5EF4-FFF2-40B4-BE49-F238E27FC236}">
                <a16:creationId xmlns:a16="http://schemas.microsoft.com/office/drawing/2014/main" id="{590B9762-EC22-8C3E-910E-14884C9A6BCD}"/>
              </a:ext>
            </a:extLst>
          </p:cNvPr>
          <p:cNvPicPr>
            <a:picLocks noChangeAspect="1"/>
          </p:cNvPicPr>
          <p:nvPr/>
        </p:nvPicPr>
        <p:blipFill>
          <a:blip r:embed="rId4">
            <a:alphaModFix amt="28000"/>
          </a:blip>
          <a:stretch>
            <a:fillRect/>
          </a:stretch>
        </p:blipFill>
        <p:spPr>
          <a:xfrm rot="-360000">
            <a:off x="137890" y="5574141"/>
            <a:ext cx="731520" cy="1249048"/>
          </a:xfrm>
          <a:prstGeom prst="rect">
            <a:avLst/>
          </a:prstGeom>
        </p:spPr>
      </p:pic>
      <p:pic>
        <p:nvPicPr>
          <p:cNvPr id="12" name="Image 1" descr="assets/ribbon_real_cropped.png">
            <a:extLst>
              <a:ext uri="{FF2B5EF4-FFF2-40B4-BE49-F238E27FC236}">
                <a16:creationId xmlns:a16="http://schemas.microsoft.com/office/drawing/2014/main" id="{40899808-7ED7-DF73-2A26-95A37783F238}"/>
              </a:ext>
            </a:extLst>
          </p:cNvPr>
          <p:cNvPicPr>
            <a:picLocks noChangeAspect="1"/>
          </p:cNvPicPr>
          <p:nvPr/>
        </p:nvPicPr>
        <p:blipFill>
          <a:blip r:embed="rId4">
            <a:alphaModFix amt="28000"/>
          </a:blip>
          <a:stretch>
            <a:fillRect/>
          </a:stretch>
        </p:blipFill>
        <p:spPr>
          <a:xfrm rot="-360000">
            <a:off x="11425034" y="-22252"/>
            <a:ext cx="731520" cy="1249048"/>
          </a:xfrm>
          <a:prstGeom prst="rect">
            <a:avLst/>
          </a:prstGeom>
        </p:spPr>
      </p:pic>
      <p:pic>
        <p:nvPicPr>
          <p:cNvPr id="14" name="Picture 13">
            <a:extLst>
              <a:ext uri="{FF2B5EF4-FFF2-40B4-BE49-F238E27FC236}">
                <a16:creationId xmlns:a16="http://schemas.microsoft.com/office/drawing/2014/main" id="{00F37DFA-4402-24FF-EADB-DD4E27208DEE}"/>
              </a:ext>
            </a:extLst>
          </p:cNvPr>
          <p:cNvPicPr>
            <a:picLocks noChangeAspect="1"/>
          </p:cNvPicPr>
          <p:nvPr/>
        </p:nvPicPr>
        <p:blipFill>
          <a:blip r:embed="rId5"/>
          <a:stretch>
            <a:fillRect/>
          </a:stretch>
        </p:blipFill>
        <p:spPr>
          <a:xfrm>
            <a:off x="1024127" y="1206614"/>
            <a:ext cx="10221158" cy="4676026"/>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640080" y="502920"/>
            <a:ext cx="8229600" cy="640080"/>
          </a:xfrm>
          <a:prstGeom prst="rect">
            <a:avLst/>
          </a:prstGeom>
          <a:noFill/>
          <a:ln/>
        </p:spPr>
        <p:txBody>
          <a:bodyPr wrap="square" lIns="0" tIns="0" rIns="0" bIns="0" rtlCol="0" anchor="ctr"/>
          <a:lstStyle/>
          <a:p>
            <a:pPr marL="0" indent="0">
              <a:buNone/>
            </a:pPr>
            <a:r>
              <a:rPr lang="en-US" sz="3200" b="1" dirty="0">
                <a:solidFill>
                  <a:srgbClr val="0B2545"/>
                </a:solidFill>
                <a:latin typeface="Cambria" pitchFamily="34" charset="0"/>
                <a:ea typeface="Cambria" pitchFamily="34" charset="-122"/>
                <a:cs typeface="Cambria" pitchFamily="34" charset="-120"/>
              </a:rPr>
              <a:t>Rule Mining Metrics</a:t>
            </a:r>
            <a:endParaRPr lang="en-US" sz="3200" dirty="0"/>
          </a:p>
        </p:txBody>
      </p:sp>
      <p:sp>
        <p:nvSpPr>
          <p:cNvPr id="5" name="Shape 3"/>
          <p:cNvSpPr/>
          <p:nvPr/>
        </p:nvSpPr>
        <p:spPr>
          <a:xfrm>
            <a:off x="1280160" y="1920240"/>
            <a:ext cx="9601200" cy="1051560"/>
          </a:xfrm>
          <a:prstGeom prst="roundRect">
            <a:avLst>
              <a:gd name="adj" fmla="val 10435"/>
            </a:avLst>
          </a:prstGeom>
          <a:solidFill>
            <a:srgbClr val="F7FAFA"/>
          </a:solidFill>
          <a:ln/>
          <a:effectLst>
            <a:outerShdw blurRad="76200" dist="25400" dir="5400000" algn="bl" rotWithShape="0">
              <a:srgbClr val="000000">
                <a:alpha val="8000"/>
              </a:srgbClr>
            </a:outerShdw>
          </a:effectLst>
        </p:spPr>
      </p:sp>
      <p:sp>
        <p:nvSpPr>
          <p:cNvPr id="6" name="Shape 4"/>
          <p:cNvSpPr/>
          <p:nvPr/>
        </p:nvSpPr>
        <p:spPr>
          <a:xfrm>
            <a:off x="1508760" y="2057400"/>
            <a:ext cx="777240" cy="777240"/>
          </a:xfrm>
          <a:prstGeom prst="ellipse">
            <a:avLst/>
          </a:prstGeom>
          <a:solidFill>
            <a:srgbClr val="DCEFEF"/>
          </a:solidFill>
          <a:ln/>
        </p:spPr>
      </p:sp>
      <p:pic>
        <p:nvPicPr>
          <p:cNvPr id="7" name="Image 0" descr="assets/FaChartLine_teal.png"/>
          <p:cNvPicPr>
            <a:picLocks noChangeAspect="1"/>
          </p:cNvPicPr>
          <p:nvPr/>
        </p:nvPicPr>
        <p:blipFill>
          <a:blip r:embed="rId3"/>
          <a:stretch>
            <a:fillRect/>
          </a:stretch>
        </p:blipFill>
        <p:spPr>
          <a:xfrm>
            <a:off x="1710842" y="2259482"/>
            <a:ext cx="373075" cy="373075"/>
          </a:xfrm>
          <a:prstGeom prst="rect">
            <a:avLst/>
          </a:prstGeom>
        </p:spPr>
      </p:pic>
      <p:sp>
        <p:nvSpPr>
          <p:cNvPr id="8" name="Text 5"/>
          <p:cNvSpPr/>
          <p:nvPr/>
        </p:nvSpPr>
        <p:spPr>
          <a:xfrm>
            <a:off x="2606040" y="2039112"/>
            <a:ext cx="2103120" cy="822960"/>
          </a:xfrm>
          <a:prstGeom prst="rect">
            <a:avLst/>
          </a:prstGeom>
          <a:noFill/>
          <a:ln/>
        </p:spPr>
        <p:txBody>
          <a:bodyPr wrap="square" lIns="0" tIns="0" rIns="0" bIns="0" rtlCol="0" anchor="ctr"/>
          <a:lstStyle/>
          <a:p>
            <a:pPr marL="0" indent="0">
              <a:buNone/>
            </a:pPr>
            <a:r>
              <a:rPr lang="en-US" sz="1900" b="1" dirty="0">
                <a:solidFill>
                  <a:srgbClr val="028090"/>
                </a:solidFill>
                <a:latin typeface="Cambria" pitchFamily="34" charset="0"/>
                <a:ea typeface="Cambria" pitchFamily="34" charset="-122"/>
                <a:cs typeface="Cambria" pitchFamily="34" charset="-120"/>
              </a:rPr>
              <a:t>Support</a:t>
            </a:r>
            <a:endParaRPr lang="en-US" sz="1900" dirty="0"/>
          </a:p>
        </p:txBody>
      </p:sp>
      <p:sp>
        <p:nvSpPr>
          <p:cNvPr id="9" name="Text 6"/>
          <p:cNvSpPr/>
          <p:nvPr/>
        </p:nvSpPr>
        <p:spPr>
          <a:xfrm>
            <a:off x="4846320" y="2039112"/>
            <a:ext cx="5852160" cy="822960"/>
          </a:xfrm>
          <a:prstGeom prst="rect">
            <a:avLst/>
          </a:prstGeom>
          <a:noFill/>
          <a:ln/>
        </p:spPr>
        <p:txBody>
          <a:bodyPr wrap="square" lIns="0" tIns="0" rIns="0" bIns="0" rtlCol="0" anchor="ctr"/>
          <a:lstStyle/>
          <a:p>
            <a:pPr marL="0" indent="0">
              <a:buNone/>
            </a:pPr>
            <a:r>
              <a:rPr lang="en-US" sz="1450" dirty="0">
                <a:solidFill>
                  <a:srgbClr val="445566"/>
                </a:solidFill>
                <a:latin typeface="Calibri" pitchFamily="34" charset="0"/>
                <a:ea typeface="Calibri" pitchFamily="34" charset="-122"/>
                <a:cs typeface="Calibri" pitchFamily="34" charset="-120"/>
              </a:rPr>
              <a:t>How often the rule appears in the dataset</a:t>
            </a:r>
            <a:endParaRPr lang="en-US" sz="1450" dirty="0"/>
          </a:p>
        </p:txBody>
      </p:sp>
      <p:sp>
        <p:nvSpPr>
          <p:cNvPr id="10" name="Shape 7"/>
          <p:cNvSpPr/>
          <p:nvPr/>
        </p:nvSpPr>
        <p:spPr>
          <a:xfrm>
            <a:off x="1280160" y="3200400"/>
            <a:ext cx="9601200" cy="1051560"/>
          </a:xfrm>
          <a:prstGeom prst="roundRect">
            <a:avLst>
              <a:gd name="adj" fmla="val 10435"/>
            </a:avLst>
          </a:prstGeom>
          <a:solidFill>
            <a:srgbClr val="F7FAFA"/>
          </a:solidFill>
          <a:ln/>
          <a:effectLst>
            <a:outerShdw blurRad="76200" dist="25400" dir="5400000" algn="bl" rotWithShape="0">
              <a:srgbClr val="000000">
                <a:alpha val="8000"/>
              </a:srgbClr>
            </a:outerShdw>
          </a:effectLst>
        </p:spPr>
      </p:sp>
      <p:sp>
        <p:nvSpPr>
          <p:cNvPr id="11" name="Shape 8"/>
          <p:cNvSpPr/>
          <p:nvPr/>
        </p:nvSpPr>
        <p:spPr>
          <a:xfrm>
            <a:off x="1508760" y="3337560"/>
            <a:ext cx="777240" cy="777240"/>
          </a:xfrm>
          <a:prstGeom prst="ellipse">
            <a:avLst/>
          </a:prstGeom>
          <a:solidFill>
            <a:srgbClr val="DCEFEF"/>
          </a:solidFill>
          <a:ln/>
        </p:spPr>
      </p:sp>
      <p:pic>
        <p:nvPicPr>
          <p:cNvPr id="12" name="Image 1" descr="assets/FaCheckCircle_teal.png"/>
          <p:cNvPicPr>
            <a:picLocks noChangeAspect="1"/>
          </p:cNvPicPr>
          <p:nvPr/>
        </p:nvPicPr>
        <p:blipFill>
          <a:blip r:embed="rId4"/>
          <a:stretch>
            <a:fillRect/>
          </a:stretch>
        </p:blipFill>
        <p:spPr>
          <a:xfrm>
            <a:off x="1710842" y="3539642"/>
            <a:ext cx="373075" cy="373075"/>
          </a:xfrm>
          <a:prstGeom prst="rect">
            <a:avLst/>
          </a:prstGeom>
        </p:spPr>
      </p:pic>
      <p:sp>
        <p:nvSpPr>
          <p:cNvPr id="13" name="Text 9"/>
          <p:cNvSpPr/>
          <p:nvPr/>
        </p:nvSpPr>
        <p:spPr>
          <a:xfrm>
            <a:off x="2606040" y="3319272"/>
            <a:ext cx="2103120" cy="822960"/>
          </a:xfrm>
          <a:prstGeom prst="rect">
            <a:avLst/>
          </a:prstGeom>
          <a:noFill/>
          <a:ln/>
        </p:spPr>
        <p:txBody>
          <a:bodyPr wrap="square" lIns="0" tIns="0" rIns="0" bIns="0" rtlCol="0" anchor="ctr"/>
          <a:lstStyle/>
          <a:p>
            <a:pPr marL="0" indent="0">
              <a:buNone/>
            </a:pPr>
            <a:r>
              <a:rPr lang="en-US" sz="1900" b="1" dirty="0">
                <a:solidFill>
                  <a:srgbClr val="028090"/>
                </a:solidFill>
                <a:latin typeface="Cambria" pitchFamily="34" charset="0"/>
                <a:ea typeface="Cambria" pitchFamily="34" charset="-122"/>
                <a:cs typeface="Cambria" pitchFamily="34" charset="-120"/>
              </a:rPr>
              <a:t>Confidence</a:t>
            </a:r>
            <a:endParaRPr lang="en-US" sz="1900" dirty="0"/>
          </a:p>
        </p:txBody>
      </p:sp>
      <p:sp>
        <p:nvSpPr>
          <p:cNvPr id="14" name="Text 10"/>
          <p:cNvSpPr/>
          <p:nvPr/>
        </p:nvSpPr>
        <p:spPr>
          <a:xfrm>
            <a:off x="4846320" y="3319272"/>
            <a:ext cx="5852160" cy="822960"/>
          </a:xfrm>
          <a:prstGeom prst="rect">
            <a:avLst/>
          </a:prstGeom>
          <a:noFill/>
          <a:ln/>
        </p:spPr>
        <p:txBody>
          <a:bodyPr wrap="square" lIns="0" tIns="0" rIns="0" bIns="0" rtlCol="0" anchor="ctr"/>
          <a:lstStyle/>
          <a:p>
            <a:pPr marL="0" indent="0">
              <a:buNone/>
            </a:pPr>
            <a:r>
              <a:rPr lang="en-US" sz="1450" dirty="0">
                <a:solidFill>
                  <a:srgbClr val="445566"/>
                </a:solidFill>
                <a:latin typeface="Calibri" pitchFamily="34" charset="0"/>
                <a:ea typeface="Calibri" pitchFamily="34" charset="-122"/>
                <a:cs typeface="Calibri" pitchFamily="34" charset="-120"/>
              </a:rPr>
              <a:t>How often early readmission appears </a:t>
            </a:r>
            <a:endParaRPr lang="en-US" sz="1450" dirty="0"/>
          </a:p>
        </p:txBody>
      </p:sp>
      <p:sp>
        <p:nvSpPr>
          <p:cNvPr id="15" name="Shape 11"/>
          <p:cNvSpPr/>
          <p:nvPr/>
        </p:nvSpPr>
        <p:spPr>
          <a:xfrm>
            <a:off x="1280160" y="4480560"/>
            <a:ext cx="9601200" cy="1051560"/>
          </a:xfrm>
          <a:prstGeom prst="roundRect">
            <a:avLst>
              <a:gd name="adj" fmla="val 10435"/>
            </a:avLst>
          </a:prstGeom>
          <a:solidFill>
            <a:srgbClr val="F7FAFA"/>
          </a:solidFill>
          <a:ln/>
          <a:effectLst>
            <a:outerShdw blurRad="76200" dist="25400" dir="5400000" algn="bl" rotWithShape="0">
              <a:srgbClr val="000000">
                <a:alpha val="8000"/>
              </a:srgbClr>
            </a:outerShdw>
          </a:effectLst>
        </p:spPr>
      </p:sp>
      <p:sp>
        <p:nvSpPr>
          <p:cNvPr id="16" name="Shape 12"/>
          <p:cNvSpPr/>
          <p:nvPr/>
        </p:nvSpPr>
        <p:spPr>
          <a:xfrm>
            <a:off x="1508760" y="4617720"/>
            <a:ext cx="777240" cy="777240"/>
          </a:xfrm>
          <a:prstGeom prst="ellipse">
            <a:avLst/>
          </a:prstGeom>
          <a:solidFill>
            <a:srgbClr val="DCEFEF"/>
          </a:solidFill>
          <a:ln/>
        </p:spPr>
      </p:sp>
      <p:pic>
        <p:nvPicPr>
          <p:cNvPr id="17" name="Image 2" descr="assets/FaBalanceScale_teal.png"/>
          <p:cNvPicPr>
            <a:picLocks noChangeAspect="1"/>
          </p:cNvPicPr>
          <p:nvPr/>
        </p:nvPicPr>
        <p:blipFill>
          <a:blip r:embed="rId5"/>
          <a:stretch>
            <a:fillRect/>
          </a:stretch>
        </p:blipFill>
        <p:spPr>
          <a:xfrm>
            <a:off x="1710842" y="4819802"/>
            <a:ext cx="373075" cy="373075"/>
          </a:xfrm>
          <a:prstGeom prst="rect">
            <a:avLst/>
          </a:prstGeom>
        </p:spPr>
      </p:pic>
      <p:sp>
        <p:nvSpPr>
          <p:cNvPr id="18" name="Text 13"/>
          <p:cNvSpPr/>
          <p:nvPr/>
        </p:nvSpPr>
        <p:spPr>
          <a:xfrm>
            <a:off x="2606040" y="4599432"/>
            <a:ext cx="2103120" cy="822960"/>
          </a:xfrm>
          <a:prstGeom prst="rect">
            <a:avLst/>
          </a:prstGeom>
          <a:noFill/>
          <a:ln/>
        </p:spPr>
        <p:txBody>
          <a:bodyPr wrap="square" lIns="0" tIns="0" rIns="0" bIns="0" rtlCol="0" anchor="ctr"/>
          <a:lstStyle/>
          <a:p>
            <a:pPr marL="0" indent="0">
              <a:buNone/>
            </a:pPr>
            <a:r>
              <a:rPr lang="en-US" sz="1900" b="1" dirty="0">
                <a:solidFill>
                  <a:srgbClr val="028090"/>
                </a:solidFill>
                <a:latin typeface="Cambria" pitchFamily="34" charset="0"/>
                <a:ea typeface="Cambria" pitchFamily="34" charset="-122"/>
                <a:cs typeface="Cambria" pitchFamily="34" charset="-120"/>
              </a:rPr>
              <a:t>Lift</a:t>
            </a:r>
            <a:endParaRPr lang="en-US" sz="1900" dirty="0"/>
          </a:p>
        </p:txBody>
      </p:sp>
      <p:sp>
        <p:nvSpPr>
          <p:cNvPr id="19" name="Text 14"/>
          <p:cNvSpPr/>
          <p:nvPr/>
        </p:nvSpPr>
        <p:spPr>
          <a:xfrm>
            <a:off x="4846320" y="4599432"/>
            <a:ext cx="5852160" cy="822960"/>
          </a:xfrm>
          <a:prstGeom prst="rect">
            <a:avLst/>
          </a:prstGeom>
          <a:noFill/>
          <a:ln/>
        </p:spPr>
        <p:txBody>
          <a:bodyPr wrap="square" lIns="0" tIns="0" rIns="0" bIns="0" rtlCol="0" anchor="ctr"/>
          <a:lstStyle/>
          <a:p>
            <a:pPr marL="0" indent="0">
              <a:buNone/>
            </a:pPr>
            <a:r>
              <a:rPr lang="en-US" sz="1450" dirty="0">
                <a:solidFill>
                  <a:srgbClr val="445566"/>
                </a:solidFill>
                <a:latin typeface="Calibri" pitchFamily="34" charset="0"/>
                <a:ea typeface="Calibri" pitchFamily="34" charset="-122"/>
                <a:cs typeface="Calibri" pitchFamily="34" charset="-120"/>
              </a:rPr>
              <a:t>How much stronger the rule is vs. random chance</a:t>
            </a:r>
            <a:endParaRPr lang="en-US" sz="1450" dirty="0"/>
          </a:p>
        </p:txBody>
      </p:sp>
      <p:pic>
        <p:nvPicPr>
          <p:cNvPr id="21" name="Image 1" descr="assets/ribbon_real_cropped.png">
            <a:extLst>
              <a:ext uri="{FF2B5EF4-FFF2-40B4-BE49-F238E27FC236}">
                <a16:creationId xmlns:a16="http://schemas.microsoft.com/office/drawing/2014/main" id="{18831791-D490-195C-1BE0-CDE5257B7BE6}"/>
              </a:ext>
            </a:extLst>
          </p:cNvPr>
          <p:cNvPicPr>
            <a:picLocks noChangeAspect="1"/>
          </p:cNvPicPr>
          <p:nvPr/>
        </p:nvPicPr>
        <p:blipFill>
          <a:blip r:embed="rId6">
            <a:alphaModFix amt="28000"/>
          </a:blip>
          <a:stretch>
            <a:fillRect/>
          </a:stretch>
        </p:blipFill>
        <p:spPr>
          <a:xfrm rot="-360000">
            <a:off x="137890" y="5574141"/>
            <a:ext cx="731520" cy="1249048"/>
          </a:xfrm>
          <a:prstGeom prst="rect">
            <a:avLst/>
          </a:prstGeom>
        </p:spPr>
      </p:pic>
      <p:pic>
        <p:nvPicPr>
          <p:cNvPr id="23" name="Image 1" descr="assets/ribbon_real_cropped.png">
            <a:extLst>
              <a:ext uri="{FF2B5EF4-FFF2-40B4-BE49-F238E27FC236}">
                <a16:creationId xmlns:a16="http://schemas.microsoft.com/office/drawing/2014/main" id="{2207D76F-2EDA-C016-F151-BC88093B7567}"/>
              </a:ext>
            </a:extLst>
          </p:cNvPr>
          <p:cNvPicPr>
            <a:picLocks noChangeAspect="1"/>
          </p:cNvPicPr>
          <p:nvPr/>
        </p:nvPicPr>
        <p:blipFill>
          <a:blip r:embed="rId6">
            <a:alphaModFix amt="28000"/>
          </a:blip>
          <a:stretch>
            <a:fillRect/>
          </a:stretch>
        </p:blipFill>
        <p:spPr>
          <a:xfrm rot="-360000">
            <a:off x="11365992" y="34811"/>
            <a:ext cx="731520" cy="1249048"/>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640080" y="502920"/>
            <a:ext cx="8229600" cy="640080"/>
          </a:xfrm>
          <a:prstGeom prst="rect">
            <a:avLst/>
          </a:prstGeom>
          <a:noFill/>
          <a:ln/>
        </p:spPr>
        <p:txBody>
          <a:bodyPr wrap="square" lIns="0" tIns="0" rIns="0" bIns="0" rtlCol="0" anchor="ctr"/>
          <a:lstStyle/>
          <a:p>
            <a:pPr marL="0" indent="0">
              <a:buNone/>
            </a:pPr>
            <a:r>
              <a:rPr lang="en-US" sz="3200" b="1" dirty="0">
                <a:solidFill>
                  <a:srgbClr val="0B2545"/>
                </a:solidFill>
                <a:latin typeface="Cambria" pitchFamily="34" charset="0"/>
                <a:ea typeface="Cambria" pitchFamily="34" charset="-122"/>
                <a:cs typeface="Cambria" pitchFamily="34" charset="-120"/>
              </a:rPr>
              <a:t>Final Rule Settings</a:t>
            </a:r>
            <a:endParaRPr lang="en-US" sz="3200" dirty="0"/>
          </a:p>
        </p:txBody>
      </p:sp>
      <p:sp>
        <p:nvSpPr>
          <p:cNvPr id="5" name="Shape 3"/>
          <p:cNvSpPr/>
          <p:nvPr/>
        </p:nvSpPr>
        <p:spPr>
          <a:xfrm>
            <a:off x="507492" y="1600200"/>
            <a:ext cx="2103120" cy="1417320"/>
          </a:xfrm>
          <a:prstGeom prst="roundRect">
            <a:avLst>
              <a:gd name="adj" fmla="val 7742"/>
            </a:avLst>
          </a:prstGeom>
          <a:solidFill>
            <a:srgbClr val="DCEFEF"/>
          </a:solidFill>
          <a:ln/>
        </p:spPr>
      </p:sp>
      <p:sp>
        <p:nvSpPr>
          <p:cNvPr id="6" name="Text 4"/>
          <p:cNvSpPr/>
          <p:nvPr/>
        </p:nvSpPr>
        <p:spPr>
          <a:xfrm>
            <a:off x="507492" y="1783080"/>
            <a:ext cx="2103120" cy="594360"/>
          </a:xfrm>
          <a:prstGeom prst="rect">
            <a:avLst/>
          </a:prstGeom>
          <a:noFill/>
          <a:ln/>
        </p:spPr>
        <p:txBody>
          <a:bodyPr wrap="square" lIns="0" tIns="0" rIns="0" bIns="0" rtlCol="0" anchor="ctr"/>
          <a:lstStyle/>
          <a:p>
            <a:pPr marL="0" indent="0" algn="ctr">
              <a:buNone/>
            </a:pPr>
            <a:r>
              <a:rPr lang="en-US" sz="1400" b="1" dirty="0">
                <a:solidFill>
                  <a:srgbClr val="0B2545"/>
                </a:solidFill>
                <a:latin typeface="Cambria" pitchFamily="34" charset="0"/>
                <a:ea typeface="Cambria" pitchFamily="34" charset="-122"/>
                <a:cs typeface="Cambria" pitchFamily="34" charset="-120"/>
              </a:rPr>
              <a:t>readmitted=&lt;30</a:t>
            </a:r>
            <a:endParaRPr lang="en-US" sz="1400" dirty="0"/>
          </a:p>
        </p:txBody>
      </p:sp>
      <p:sp>
        <p:nvSpPr>
          <p:cNvPr id="7" name="Text 5"/>
          <p:cNvSpPr/>
          <p:nvPr/>
        </p:nvSpPr>
        <p:spPr>
          <a:xfrm>
            <a:off x="507492" y="2514600"/>
            <a:ext cx="2103120" cy="411480"/>
          </a:xfrm>
          <a:prstGeom prst="rect">
            <a:avLst/>
          </a:prstGeom>
          <a:noFill/>
          <a:ln/>
        </p:spPr>
        <p:txBody>
          <a:bodyPr wrap="square" lIns="0" tIns="0" rIns="0" bIns="0" rtlCol="0" anchor="ctr"/>
          <a:lstStyle/>
          <a:p>
            <a:pPr marL="0" indent="0" algn="ctr">
              <a:buNone/>
            </a:pPr>
            <a:r>
              <a:rPr lang="en-US" sz="1000" b="1" kern="0" spc="100" dirty="0">
                <a:solidFill>
                  <a:srgbClr val="028090"/>
                </a:solidFill>
                <a:latin typeface="Calibri" pitchFamily="34" charset="0"/>
                <a:ea typeface="Calibri" pitchFamily="34" charset="-122"/>
                <a:cs typeface="Calibri" pitchFamily="34" charset="-120"/>
              </a:rPr>
              <a:t>OUTCOME</a:t>
            </a:r>
            <a:endParaRPr lang="en-US" sz="1000" dirty="0"/>
          </a:p>
        </p:txBody>
      </p:sp>
      <p:sp>
        <p:nvSpPr>
          <p:cNvPr id="8" name="Shape 6"/>
          <p:cNvSpPr/>
          <p:nvPr/>
        </p:nvSpPr>
        <p:spPr>
          <a:xfrm>
            <a:off x="2775204" y="1600200"/>
            <a:ext cx="2103120" cy="1417320"/>
          </a:xfrm>
          <a:prstGeom prst="roundRect">
            <a:avLst>
              <a:gd name="adj" fmla="val 7742"/>
            </a:avLst>
          </a:prstGeom>
          <a:solidFill>
            <a:srgbClr val="DCEFEF"/>
          </a:solidFill>
          <a:ln/>
        </p:spPr>
      </p:sp>
      <p:sp>
        <p:nvSpPr>
          <p:cNvPr id="9" name="Text 7"/>
          <p:cNvSpPr/>
          <p:nvPr/>
        </p:nvSpPr>
        <p:spPr>
          <a:xfrm>
            <a:off x="2775204" y="1783080"/>
            <a:ext cx="2103120" cy="594360"/>
          </a:xfrm>
          <a:prstGeom prst="rect">
            <a:avLst/>
          </a:prstGeom>
          <a:noFill/>
          <a:ln/>
        </p:spPr>
        <p:txBody>
          <a:bodyPr wrap="square" lIns="0" tIns="0" rIns="0" bIns="0" rtlCol="0" anchor="ctr"/>
          <a:lstStyle/>
          <a:p>
            <a:pPr marL="0" indent="0" algn="ctr">
              <a:buNone/>
            </a:pPr>
            <a:r>
              <a:rPr lang="en-US" sz="2600" b="1" dirty="0">
                <a:solidFill>
                  <a:srgbClr val="0B2545"/>
                </a:solidFill>
                <a:latin typeface="Cambria" pitchFamily="34" charset="0"/>
                <a:ea typeface="Cambria" pitchFamily="34" charset="-122"/>
                <a:cs typeface="Cambria" pitchFamily="34" charset="-120"/>
              </a:rPr>
              <a:t>2%</a:t>
            </a:r>
            <a:endParaRPr lang="en-US" sz="2600" dirty="0"/>
          </a:p>
        </p:txBody>
      </p:sp>
      <p:sp>
        <p:nvSpPr>
          <p:cNvPr id="10" name="Text 8"/>
          <p:cNvSpPr/>
          <p:nvPr/>
        </p:nvSpPr>
        <p:spPr>
          <a:xfrm>
            <a:off x="2775204" y="2514600"/>
            <a:ext cx="2103120" cy="411480"/>
          </a:xfrm>
          <a:prstGeom prst="rect">
            <a:avLst/>
          </a:prstGeom>
          <a:noFill/>
          <a:ln/>
        </p:spPr>
        <p:txBody>
          <a:bodyPr wrap="square" lIns="0" tIns="0" rIns="0" bIns="0" rtlCol="0" anchor="ctr"/>
          <a:lstStyle/>
          <a:p>
            <a:pPr marL="0" indent="0" algn="ctr">
              <a:buNone/>
            </a:pPr>
            <a:r>
              <a:rPr lang="en-US" sz="1000" b="1" kern="0" spc="100" dirty="0">
                <a:solidFill>
                  <a:srgbClr val="028090"/>
                </a:solidFill>
                <a:latin typeface="Calibri" pitchFamily="34" charset="0"/>
                <a:ea typeface="Calibri" pitchFamily="34" charset="-122"/>
                <a:cs typeface="Calibri" pitchFamily="34" charset="-120"/>
              </a:rPr>
              <a:t>MIN. SUPPORT</a:t>
            </a:r>
            <a:endParaRPr lang="en-US" sz="1000" dirty="0"/>
          </a:p>
        </p:txBody>
      </p:sp>
      <p:sp>
        <p:nvSpPr>
          <p:cNvPr id="11" name="Shape 9"/>
          <p:cNvSpPr/>
          <p:nvPr/>
        </p:nvSpPr>
        <p:spPr>
          <a:xfrm>
            <a:off x="5042916" y="1600200"/>
            <a:ext cx="2103120" cy="1417320"/>
          </a:xfrm>
          <a:prstGeom prst="roundRect">
            <a:avLst>
              <a:gd name="adj" fmla="val 7742"/>
            </a:avLst>
          </a:prstGeom>
          <a:solidFill>
            <a:srgbClr val="DCEFEF"/>
          </a:solidFill>
          <a:ln/>
        </p:spPr>
      </p:sp>
      <p:sp>
        <p:nvSpPr>
          <p:cNvPr id="12" name="Text 10"/>
          <p:cNvSpPr/>
          <p:nvPr/>
        </p:nvSpPr>
        <p:spPr>
          <a:xfrm>
            <a:off x="5042916" y="1783080"/>
            <a:ext cx="2103120" cy="594360"/>
          </a:xfrm>
          <a:prstGeom prst="rect">
            <a:avLst/>
          </a:prstGeom>
          <a:noFill/>
          <a:ln/>
        </p:spPr>
        <p:txBody>
          <a:bodyPr wrap="square" lIns="0" tIns="0" rIns="0" bIns="0" rtlCol="0" anchor="ctr"/>
          <a:lstStyle/>
          <a:p>
            <a:pPr marL="0" indent="0" algn="ctr">
              <a:buNone/>
            </a:pPr>
            <a:r>
              <a:rPr lang="en-US" sz="2600" b="1" dirty="0">
                <a:solidFill>
                  <a:srgbClr val="0B2545"/>
                </a:solidFill>
                <a:latin typeface="Cambria" pitchFamily="34" charset="0"/>
                <a:ea typeface="Cambria" pitchFamily="34" charset="-122"/>
                <a:cs typeface="Cambria" pitchFamily="34" charset="-120"/>
              </a:rPr>
              <a:t>20%</a:t>
            </a:r>
            <a:endParaRPr lang="en-US" sz="2600" dirty="0"/>
          </a:p>
        </p:txBody>
      </p:sp>
      <p:sp>
        <p:nvSpPr>
          <p:cNvPr id="13" name="Text 11"/>
          <p:cNvSpPr/>
          <p:nvPr/>
        </p:nvSpPr>
        <p:spPr>
          <a:xfrm>
            <a:off x="5042916" y="2514600"/>
            <a:ext cx="2103120" cy="411480"/>
          </a:xfrm>
          <a:prstGeom prst="rect">
            <a:avLst/>
          </a:prstGeom>
          <a:noFill/>
          <a:ln/>
        </p:spPr>
        <p:txBody>
          <a:bodyPr wrap="square" lIns="0" tIns="0" rIns="0" bIns="0" rtlCol="0" anchor="ctr"/>
          <a:lstStyle/>
          <a:p>
            <a:pPr marL="0" indent="0" algn="ctr">
              <a:buNone/>
            </a:pPr>
            <a:r>
              <a:rPr lang="en-US" sz="1000" b="1" kern="0" spc="100" dirty="0">
                <a:solidFill>
                  <a:srgbClr val="028090"/>
                </a:solidFill>
                <a:latin typeface="Calibri" pitchFamily="34" charset="0"/>
                <a:ea typeface="Calibri" pitchFamily="34" charset="-122"/>
                <a:cs typeface="Calibri" pitchFamily="34" charset="-120"/>
              </a:rPr>
              <a:t>MIN. CONFIDENCE</a:t>
            </a:r>
            <a:endParaRPr lang="en-US" sz="1000" dirty="0"/>
          </a:p>
        </p:txBody>
      </p:sp>
      <p:sp>
        <p:nvSpPr>
          <p:cNvPr id="14" name="Shape 12"/>
          <p:cNvSpPr/>
          <p:nvPr/>
        </p:nvSpPr>
        <p:spPr>
          <a:xfrm>
            <a:off x="7310628" y="1600200"/>
            <a:ext cx="2103120" cy="1417320"/>
          </a:xfrm>
          <a:prstGeom prst="roundRect">
            <a:avLst>
              <a:gd name="adj" fmla="val 7742"/>
            </a:avLst>
          </a:prstGeom>
          <a:solidFill>
            <a:srgbClr val="DCEFEF"/>
          </a:solidFill>
          <a:ln/>
        </p:spPr>
      </p:sp>
      <p:sp>
        <p:nvSpPr>
          <p:cNvPr id="15" name="Text 13"/>
          <p:cNvSpPr/>
          <p:nvPr/>
        </p:nvSpPr>
        <p:spPr>
          <a:xfrm>
            <a:off x="7310628" y="1783080"/>
            <a:ext cx="2103120" cy="594360"/>
          </a:xfrm>
          <a:prstGeom prst="rect">
            <a:avLst/>
          </a:prstGeom>
          <a:noFill/>
          <a:ln/>
        </p:spPr>
        <p:txBody>
          <a:bodyPr wrap="square" lIns="0" tIns="0" rIns="0" bIns="0" rtlCol="0" anchor="ctr"/>
          <a:lstStyle/>
          <a:p>
            <a:pPr marL="0" indent="0" algn="ctr">
              <a:buNone/>
            </a:pPr>
            <a:r>
              <a:rPr lang="en-US" sz="2600" b="1" dirty="0">
                <a:solidFill>
                  <a:srgbClr val="0B2545"/>
                </a:solidFill>
                <a:latin typeface="Cambria" pitchFamily="34" charset="0"/>
                <a:ea typeface="Cambria" pitchFamily="34" charset="-122"/>
                <a:cs typeface="Cambria" pitchFamily="34" charset="-120"/>
              </a:rPr>
              <a:t>3</a:t>
            </a:r>
            <a:endParaRPr lang="en-US" sz="2600" dirty="0"/>
          </a:p>
        </p:txBody>
      </p:sp>
      <p:sp>
        <p:nvSpPr>
          <p:cNvPr id="16" name="Text 14"/>
          <p:cNvSpPr/>
          <p:nvPr/>
        </p:nvSpPr>
        <p:spPr>
          <a:xfrm>
            <a:off x="7310628" y="2514600"/>
            <a:ext cx="2103120" cy="411480"/>
          </a:xfrm>
          <a:prstGeom prst="rect">
            <a:avLst/>
          </a:prstGeom>
          <a:noFill/>
          <a:ln/>
        </p:spPr>
        <p:txBody>
          <a:bodyPr wrap="square" lIns="0" tIns="0" rIns="0" bIns="0" rtlCol="0" anchor="ctr"/>
          <a:lstStyle/>
          <a:p>
            <a:pPr marL="0" indent="0" algn="ctr">
              <a:buNone/>
            </a:pPr>
            <a:r>
              <a:rPr lang="en-US" sz="1000" b="1" kern="0" spc="100" dirty="0">
                <a:solidFill>
                  <a:srgbClr val="028090"/>
                </a:solidFill>
                <a:latin typeface="Calibri" pitchFamily="34" charset="0"/>
                <a:ea typeface="Calibri" pitchFamily="34" charset="-122"/>
                <a:cs typeface="Calibri" pitchFamily="34" charset="-120"/>
              </a:rPr>
              <a:t>ANTECEDENT MAX</a:t>
            </a:r>
            <a:endParaRPr lang="en-US" sz="1000" dirty="0"/>
          </a:p>
        </p:txBody>
      </p:sp>
      <p:sp>
        <p:nvSpPr>
          <p:cNvPr id="17" name="Shape 15"/>
          <p:cNvSpPr/>
          <p:nvPr/>
        </p:nvSpPr>
        <p:spPr>
          <a:xfrm>
            <a:off x="9578340" y="1600200"/>
            <a:ext cx="2103120" cy="1417320"/>
          </a:xfrm>
          <a:prstGeom prst="roundRect">
            <a:avLst>
              <a:gd name="adj" fmla="val 7742"/>
            </a:avLst>
          </a:prstGeom>
          <a:solidFill>
            <a:srgbClr val="DCEFEF"/>
          </a:solidFill>
          <a:ln/>
        </p:spPr>
      </p:sp>
      <p:sp>
        <p:nvSpPr>
          <p:cNvPr id="18" name="Text 16"/>
          <p:cNvSpPr/>
          <p:nvPr/>
        </p:nvSpPr>
        <p:spPr>
          <a:xfrm>
            <a:off x="9578340" y="1783080"/>
            <a:ext cx="2103120" cy="594360"/>
          </a:xfrm>
          <a:prstGeom prst="rect">
            <a:avLst/>
          </a:prstGeom>
          <a:noFill/>
          <a:ln/>
        </p:spPr>
        <p:txBody>
          <a:bodyPr wrap="square" lIns="0" tIns="0" rIns="0" bIns="0" rtlCol="0" anchor="ctr"/>
          <a:lstStyle/>
          <a:p>
            <a:pPr marL="0" indent="0" algn="ctr">
              <a:buNone/>
            </a:pPr>
            <a:r>
              <a:rPr lang="en-US" sz="2600" b="1" dirty="0">
                <a:solidFill>
                  <a:srgbClr val="0B2545"/>
                </a:solidFill>
                <a:latin typeface="Cambria" pitchFamily="34" charset="0"/>
                <a:ea typeface="Cambria" pitchFamily="34" charset="-122"/>
                <a:cs typeface="Cambria" pitchFamily="34" charset="-120"/>
              </a:rPr>
              <a:t>10</a:t>
            </a:r>
            <a:endParaRPr lang="en-US" sz="2600" dirty="0"/>
          </a:p>
        </p:txBody>
      </p:sp>
      <p:sp>
        <p:nvSpPr>
          <p:cNvPr id="19" name="Text 17"/>
          <p:cNvSpPr/>
          <p:nvPr/>
        </p:nvSpPr>
        <p:spPr>
          <a:xfrm>
            <a:off x="9578340" y="2514600"/>
            <a:ext cx="2103120" cy="411480"/>
          </a:xfrm>
          <a:prstGeom prst="rect">
            <a:avLst/>
          </a:prstGeom>
          <a:noFill/>
          <a:ln/>
        </p:spPr>
        <p:txBody>
          <a:bodyPr wrap="square" lIns="0" tIns="0" rIns="0" bIns="0" rtlCol="0" anchor="ctr"/>
          <a:lstStyle/>
          <a:p>
            <a:pPr marL="0" indent="0" algn="ctr">
              <a:buNone/>
            </a:pPr>
            <a:r>
              <a:rPr lang="en-US" sz="1000" b="1" kern="0" spc="100" dirty="0">
                <a:solidFill>
                  <a:srgbClr val="028090"/>
                </a:solidFill>
                <a:latin typeface="Calibri" pitchFamily="34" charset="0"/>
                <a:ea typeface="Calibri" pitchFamily="34" charset="-122"/>
                <a:cs typeface="Calibri" pitchFamily="34" charset="-120"/>
              </a:rPr>
              <a:t>RULES FOUND</a:t>
            </a:r>
            <a:endParaRPr lang="en-US" sz="1000" dirty="0"/>
          </a:p>
        </p:txBody>
      </p:sp>
      <p:sp>
        <p:nvSpPr>
          <p:cNvPr id="20" name="Shape 18"/>
          <p:cNvSpPr/>
          <p:nvPr/>
        </p:nvSpPr>
        <p:spPr>
          <a:xfrm>
            <a:off x="2337683" y="3154679"/>
            <a:ext cx="7034918" cy="3319273"/>
          </a:xfrm>
          <a:prstGeom prst="roundRect">
            <a:avLst>
              <a:gd name="adj" fmla="val 3137"/>
            </a:avLst>
          </a:prstGeom>
          <a:solidFill>
            <a:srgbClr val="FBFDFD"/>
          </a:solidFill>
          <a:ln w="15875">
            <a:solidFill>
              <a:srgbClr val="9FC4C7"/>
            </a:solidFill>
            <a:prstDash val="dash"/>
          </a:ln>
        </p:spPr>
      </p:sp>
      <p:pic>
        <p:nvPicPr>
          <p:cNvPr id="21" name="Image 0" descr="assets/FaCamera_teal.png"/>
          <p:cNvPicPr>
            <a:picLocks noChangeAspect="1"/>
          </p:cNvPicPr>
          <p:nvPr/>
        </p:nvPicPr>
        <p:blipFill>
          <a:blip r:embed="rId3"/>
          <a:stretch>
            <a:fillRect/>
          </a:stretch>
        </p:blipFill>
        <p:spPr>
          <a:xfrm>
            <a:off x="5852160" y="3850538"/>
            <a:ext cx="457200" cy="457200"/>
          </a:xfrm>
          <a:prstGeom prst="rect">
            <a:avLst/>
          </a:prstGeom>
        </p:spPr>
      </p:pic>
      <p:sp>
        <p:nvSpPr>
          <p:cNvPr id="22" name="Text 19"/>
          <p:cNvSpPr/>
          <p:nvPr/>
        </p:nvSpPr>
        <p:spPr>
          <a:xfrm>
            <a:off x="2788920" y="4380890"/>
            <a:ext cx="6583680" cy="1196950"/>
          </a:xfrm>
          <a:prstGeom prst="rect">
            <a:avLst/>
          </a:prstGeom>
          <a:noFill/>
          <a:ln/>
        </p:spPr>
        <p:txBody>
          <a:bodyPr wrap="square" lIns="0" tIns="0" rIns="0" bIns="0" rtlCol="0" anchor="t"/>
          <a:lstStyle/>
          <a:p>
            <a:pPr marL="0" indent="0" algn="ctr">
              <a:buNone/>
            </a:pPr>
            <a:r>
              <a:rPr lang="en-US" sz="1100" i="1" dirty="0">
                <a:solidFill>
                  <a:srgbClr val="5B7A7E"/>
                </a:solidFill>
                <a:latin typeface="Calibri" pitchFamily="34" charset="0"/>
                <a:ea typeface="Calibri" pitchFamily="34" charset="-122"/>
                <a:cs typeface="Calibri" pitchFamily="34" charset="-120"/>
              </a:rPr>
              <a:t>PASTE HERE: Association Rules screenshot</a:t>
            </a:r>
            <a:endParaRPr lang="en-US" sz="1100" dirty="0"/>
          </a:p>
          <a:p>
            <a:pPr marL="0" indent="0" algn="ctr">
              <a:buNone/>
            </a:pPr>
            <a:r>
              <a:rPr lang="en-US" sz="1100" i="1" dirty="0">
                <a:solidFill>
                  <a:srgbClr val="5B7A7E"/>
                </a:solidFill>
                <a:latin typeface="Calibri" pitchFamily="34" charset="0"/>
                <a:ea typeface="Calibri" pitchFamily="34" charset="-122"/>
                <a:cs typeface="Calibri" pitchFamily="34" charset="-120"/>
              </a:rPr>
              <a:t>(readmitted=&lt;30, support 2%, confidence 20%, 10 rules found)</a:t>
            </a:r>
            <a:endParaRPr lang="en-US" sz="1100" dirty="0"/>
          </a:p>
        </p:txBody>
      </p:sp>
      <p:pic>
        <p:nvPicPr>
          <p:cNvPr id="24" name="Image 1" descr="assets/ribbon_real_cropped.png">
            <a:extLst>
              <a:ext uri="{FF2B5EF4-FFF2-40B4-BE49-F238E27FC236}">
                <a16:creationId xmlns:a16="http://schemas.microsoft.com/office/drawing/2014/main" id="{83FAD4F1-B49D-B24D-CE3D-CB96045CC26B}"/>
              </a:ext>
            </a:extLst>
          </p:cNvPr>
          <p:cNvPicPr>
            <a:picLocks noChangeAspect="1"/>
          </p:cNvPicPr>
          <p:nvPr/>
        </p:nvPicPr>
        <p:blipFill>
          <a:blip r:embed="rId4">
            <a:alphaModFix amt="28000"/>
          </a:blip>
          <a:stretch>
            <a:fillRect/>
          </a:stretch>
        </p:blipFill>
        <p:spPr>
          <a:xfrm rot="-360000">
            <a:off x="137890" y="5574141"/>
            <a:ext cx="731520" cy="1249048"/>
          </a:xfrm>
          <a:prstGeom prst="rect">
            <a:avLst/>
          </a:prstGeom>
        </p:spPr>
      </p:pic>
      <p:pic>
        <p:nvPicPr>
          <p:cNvPr id="26" name="Image 1" descr="assets/ribbon_real_cropped.png">
            <a:extLst>
              <a:ext uri="{FF2B5EF4-FFF2-40B4-BE49-F238E27FC236}">
                <a16:creationId xmlns:a16="http://schemas.microsoft.com/office/drawing/2014/main" id="{FC55043E-DEA4-B56C-ECBE-F11FC11ACCB1}"/>
              </a:ext>
            </a:extLst>
          </p:cNvPr>
          <p:cNvPicPr>
            <a:picLocks noChangeAspect="1"/>
          </p:cNvPicPr>
          <p:nvPr/>
        </p:nvPicPr>
        <p:blipFill>
          <a:blip r:embed="rId4">
            <a:alphaModFix amt="28000"/>
          </a:blip>
          <a:stretch>
            <a:fillRect/>
          </a:stretch>
        </p:blipFill>
        <p:spPr>
          <a:xfrm rot="-360000">
            <a:off x="11365992" y="20500"/>
            <a:ext cx="731520" cy="1249048"/>
          </a:xfrm>
          <a:prstGeom prst="rect">
            <a:avLst/>
          </a:prstGeom>
        </p:spPr>
      </p:pic>
      <p:pic>
        <p:nvPicPr>
          <p:cNvPr id="28" name="Picture 27">
            <a:extLst>
              <a:ext uri="{FF2B5EF4-FFF2-40B4-BE49-F238E27FC236}">
                <a16:creationId xmlns:a16="http://schemas.microsoft.com/office/drawing/2014/main" id="{0514680D-BC63-05CC-0D50-73021B692332}"/>
              </a:ext>
            </a:extLst>
          </p:cNvPr>
          <p:cNvPicPr>
            <a:picLocks noChangeAspect="1"/>
          </p:cNvPicPr>
          <p:nvPr/>
        </p:nvPicPr>
        <p:blipFill>
          <a:blip r:embed="rId5"/>
          <a:srcRect l="18000" t="4824" r="25749" b="44903"/>
          <a:stretch>
            <a:fillRect/>
          </a:stretch>
        </p:blipFill>
        <p:spPr>
          <a:xfrm>
            <a:off x="2423160" y="3190342"/>
            <a:ext cx="6858000" cy="3256178"/>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640080" y="502920"/>
            <a:ext cx="8229600" cy="640080"/>
          </a:xfrm>
          <a:prstGeom prst="rect">
            <a:avLst/>
          </a:prstGeom>
          <a:noFill/>
          <a:ln/>
        </p:spPr>
        <p:txBody>
          <a:bodyPr wrap="square" lIns="0" tIns="0" rIns="0" bIns="0" rtlCol="0" anchor="ctr"/>
          <a:lstStyle/>
          <a:p>
            <a:pPr marL="0" indent="0">
              <a:buNone/>
            </a:pPr>
            <a:r>
              <a:rPr lang="en-US" sz="3200" b="1" dirty="0">
                <a:solidFill>
                  <a:srgbClr val="0B2545"/>
                </a:solidFill>
                <a:latin typeface="Cambria" pitchFamily="34" charset="0"/>
                <a:ea typeface="Cambria" pitchFamily="34" charset="-122"/>
                <a:cs typeface="Cambria" pitchFamily="34" charset="-120"/>
              </a:rPr>
              <a:t>Top Rules by Lift</a:t>
            </a:r>
            <a:endParaRPr lang="en-US" sz="3200" dirty="0"/>
          </a:p>
        </p:txBody>
      </p:sp>
      <p:graphicFrame>
        <p:nvGraphicFramePr>
          <p:cNvPr id="10" name="Table 0"/>
          <p:cNvGraphicFramePr>
            <a:graphicFrameLocks noGrp="1"/>
          </p:cNvGraphicFramePr>
          <p:nvPr>
            <p:extLst>
              <p:ext uri="{D42A27DB-BD31-4B8C-83A1-F6EECF244321}">
                <p14:modId xmlns:p14="http://schemas.microsoft.com/office/powerpoint/2010/main" val="3689303919"/>
              </p:ext>
            </p:extLst>
          </p:nvPr>
        </p:nvGraphicFramePr>
        <p:xfrm>
          <a:off x="640080" y="1691640"/>
          <a:ext cx="10881360" cy="1558140"/>
        </p:xfrm>
        <a:graphic>
          <a:graphicData uri="http://schemas.openxmlformats.org/drawingml/2006/table">
            <a:tbl>
              <a:tblPr/>
              <a:tblGrid>
                <a:gridCol w="640080">
                  <a:extLst>
                    <a:ext uri="{9D8B030D-6E8A-4147-A177-3AD203B41FA5}">
                      <a16:colId xmlns:a16="http://schemas.microsoft.com/office/drawing/2014/main" val="20000"/>
                    </a:ext>
                  </a:extLst>
                </a:gridCol>
                <a:gridCol w="877824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tblGrid>
              <a:tr h="389535">
                <a:tc>
                  <a:txBody>
                    <a:bodyPr/>
                    <a:lstStyle/>
                    <a:p>
                      <a:pPr marL="0" indent="0" algn="ctr">
                        <a:buNone/>
                      </a:pPr>
                      <a:r>
                        <a:rPr lang="en-US" sz="1350" b="1" dirty="0">
                          <a:solidFill>
                            <a:srgbClr val="FFFFFF"/>
                          </a:solidFill>
                          <a:latin typeface="Calibri" pitchFamily="34" charset="0"/>
                          <a:ea typeface="Calibri" pitchFamily="34" charset="-122"/>
                          <a:cs typeface="Calibri" pitchFamily="34" charset="-120"/>
                        </a:rPr>
                        <a:t>#</a:t>
                      </a:r>
                      <a:endParaRPr lang="en-US" sz="135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028090"/>
                    </a:solidFill>
                  </a:tcPr>
                </a:tc>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Rule (→ readmitted = &lt;30)</a:t>
                      </a:r>
                      <a:endParaRPr lang="en-US" sz="135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028090"/>
                    </a:solidFill>
                  </a:tcPr>
                </a:tc>
                <a:tc>
                  <a:txBody>
                    <a:bodyPr/>
                    <a:lstStyle/>
                    <a:p>
                      <a:pPr marL="0" indent="0" algn="ctr">
                        <a:buNone/>
                      </a:pPr>
                      <a:r>
                        <a:rPr lang="en-US" sz="1350" b="1" dirty="0">
                          <a:solidFill>
                            <a:srgbClr val="FFFFFF"/>
                          </a:solidFill>
                          <a:latin typeface="Calibri" pitchFamily="34" charset="0"/>
                          <a:ea typeface="Calibri" pitchFamily="34" charset="-122"/>
                          <a:cs typeface="Calibri" pitchFamily="34" charset="-120"/>
                        </a:rPr>
                        <a:t>Lift</a:t>
                      </a:r>
                      <a:endParaRPr lang="en-US" sz="135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028090"/>
                    </a:solidFill>
                  </a:tcPr>
                </a:tc>
                <a:extLst>
                  <a:ext uri="{0D108BD9-81ED-4DB2-BD59-A6C34878D82A}">
                    <a16:rowId xmlns:a16="http://schemas.microsoft.com/office/drawing/2014/main" val="10000"/>
                  </a:ext>
                </a:extLst>
              </a:tr>
              <a:tr h="389535">
                <a:tc>
                  <a:txBody>
                    <a:bodyPr/>
                    <a:lstStyle/>
                    <a:p>
                      <a:pPr marL="0" indent="0" algn="ctr">
                        <a:buNone/>
                      </a:pPr>
                      <a:r>
                        <a:rPr lang="en-US" sz="1350" dirty="0">
                          <a:solidFill>
                            <a:srgbClr val="445566"/>
                          </a:solidFill>
                          <a:latin typeface="Calibri" pitchFamily="34" charset="0"/>
                          <a:ea typeface="Calibri" pitchFamily="34" charset="-122"/>
                          <a:cs typeface="Calibri" pitchFamily="34" charset="-120"/>
                        </a:rPr>
                        <a:t>1</a:t>
                      </a:r>
                      <a:endParaRPr lang="en-US" sz="135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F7FAFA"/>
                    </a:solidFill>
                  </a:tcPr>
                </a:tc>
                <a:tc>
                  <a:txBody>
                    <a:bodyPr/>
                    <a:lstStyle/>
                    <a:p>
                      <a:pPr marL="0" indent="0">
                        <a:buNone/>
                      </a:pPr>
                      <a:r>
                        <a:rPr lang="en-US" sz="1350" dirty="0">
                          <a:solidFill>
                            <a:srgbClr val="445566"/>
                          </a:solidFill>
                          <a:latin typeface="Calibri" pitchFamily="34" charset="0"/>
                          <a:ea typeface="Calibri" pitchFamily="34" charset="-122"/>
                          <a:cs typeface="Calibri" pitchFamily="34" charset="-120"/>
                        </a:rPr>
                        <a:t>number_inpatient ≥ 1.5,  A1Cresult = None</a:t>
                      </a:r>
                      <a:endParaRPr lang="en-US" sz="135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F7FAFA"/>
                    </a:solidFill>
                  </a:tcPr>
                </a:tc>
                <a:tc>
                  <a:txBody>
                    <a:bodyPr/>
                    <a:lstStyle/>
                    <a:p>
                      <a:pPr marL="0" indent="0" algn="ctr">
                        <a:buNone/>
                      </a:pPr>
                      <a:r>
                        <a:rPr lang="en-US" sz="1350" b="1" dirty="0">
                          <a:solidFill>
                            <a:srgbClr val="0B2545"/>
                          </a:solidFill>
                          <a:latin typeface="Calibri" pitchFamily="34" charset="0"/>
                          <a:ea typeface="Calibri" pitchFamily="34" charset="-122"/>
                          <a:cs typeface="Calibri" pitchFamily="34" charset="-120"/>
                        </a:rPr>
                        <a:t>1.949</a:t>
                      </a:r>
                      <a:endParaRPr lang="en-US" sz="135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F7FAFA"/>
                    </a:solidFill>
                  </a:tcPr>
                </a:tc>
                <a:extLst>
                  <a:ext uri="{0D108BD9-81ED-4DB2-BD59-A6C34878D82A}">
                    <a16:rowId xmlns:a16="http://schemas.microsoft.com/office/drawing/2014/main" val="10001"/>
                  </a:ext>
                </a:extLst>
              </a:tr>
              <a:tr h="389535">
                <a:tc>
                  <a:txBody>
                    <a:bodyPr/>
                    <a:lstStyle/>
                    <a:p>
                      <a:pPr marL="0" indent="0" algn="ctr">
                        <a:buNone/>
                      </a:pPr>
                      <a:r>
                        <a:rPr lang="en-US" sz="1350" dirty="0">
                          <a:solidFill>
                            <a:srgbClr val="445566"/>
                          </a:solidFill>
                          <a:latin typeface="Calibri" pitchFamily="34" charset="0"/>
                          <a:ea typeface="Calibri" pitchFamily="34" charset="-122"/>
                          <a:cs typeface="Calibri" pitchFamily="34" charset="-120"/>
                        </a:rPr>
                        <a:t>2</a:t>
                      </a:r>
                      <a:endParaRPr lang="en-US" sz="135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buNone/>
                      </a:pPr>
                      <a:r>
                        <a:rPr lang="en-US" sz="1350" dirty="0">
                          <a:solidFill>
                            <a:srgbClr val="445566"/>
                          </a:solidFill>
                          <a:latin typeface="Calibri" pitchFamily="34" charset="0"/>
                          <a:ea typeface="Calibri" pitchFamily="34" charset="-122"/>
                          <a:cs typeface="Calibri" pitchFamily="34" charset="-120"/>
                        </a:rPr>
                        <a:t>number_inpatient ≥ 1.5,  A1Cresult = None,  diabetesMed = Yes</a:t>
                      </a:r>
                      <a:endParaRPr lang="en-US" sz="135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350" b="1" dirty="0">
                          <a:solidFill>
                            <a:srgbClr val="0B2545"/>
                          </a:solidFill>
                          <a:latin typeface="Calibri" pitchFamily="34" charset="0"/>
                          <a:ea typeface="Calibri" pitchFamily="34" charset="-122"/>
                          <a:cs typeface="Calibri" pitchFamily="34" charset="-120"/>
                        </a:rPr>
                        <a:t>1.948</a:t>
                      </a:r>
                      <a:endParaRPr lang="en-US" sz="135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FFFFFF"/>
                    </a:solidFill>
                  </a:tcPr>
                </a:tc>
                <a:extLst>
                  <a:ext uri="{0D108BD9-81ED-4DB2-BD59-A6C34878D82A}">
                    <a16:rowId xmlns:a16="http://schemas.microsoft.com/office/drawing/2014/main" val="10002"/>
                  </a:ext>
                </a:extLst>
              </a:tr>
              <a:tr h="389535">
                <a:tc>
                  <a:txBody>
                    <a:bodyPr/>
                    <a:lstStyle/>
                    <a:p>
                      <a:pPr marL="0" indent="0" algn="ctr">
                        <a:buNone/>
                      </a:pPr>
                      <a:r>
                        <a:rPr lang="en-US" sz="1350" dirty="0">
                          <a:solidFill>
                            <a:srgbClr val="445566"/>
                          </a:solidFill>
                          <a:latin typeface="Calibri" pitchFamily="34" charset="0"/>
                          <a:ea typeface="Calibri" pitchFamily="34" charset="-122"/>
                          <a:cs typeface="Calibri" pitchFamily="34" charset="-120"/>
                        </a:rPr>
                        <a:t>3</a:t>
                      </a:r>
                      <a:endParaRPr lang="en-US" sz="135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F7FAFA"/>
                    </a:solidFill>
                  </a:tcPr>
                </a:tc>
                <a:tc>
                  <a:txBody>
                    <a:bodyPr/>
                    <a:lstStyle/>
                    <a:p>
                      <a:pPr marL="0" indent="0">
                        <a:buNone/>
                      </a:pPr>
                      <a:r>
                        <a:rPr lang="en-US" sz="1350" dirty="0">
                          <a:solidFill>
                            <a:srgbClr val="445566"/>
                          </a:solidFill>
                          <a:latin typeface="Calibri" pitchFamily="34" charset="0"/>
                          <a:ea typeface="Calibri" pitchFamily="34" charset="-122"/>
                          <a:cs typeface="Calibri" pitchFamily="34" charset="-120"/>
                        </a:rPr>
                        <a:t>number_inpatient ≥ 1.5,  max_glu_serum = None,  A1Cresult = None</a:t>
                      </a:r>
                      <a:endParaRPr lang="en-US" sz="135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F7FAFA"/>
                    </a:solidFill>
                  </a:tcPr>
                </a:tc>
                <a:tc>
                  <a:txBody>
                    <a:bodyPr/>
                    <a:lstStyle/>
                    <a:p>
                      <a:pPr marL="0" indent="0" algn="ctr">
                        <a:buNone/>
                      </a:pPr>
                      <a:r>
                        <a:rPr lang="en-US" sz="1350" b="1" dirty="0">
                          <a:solidFill>
                            <a:srgbClr val="0B2545"/>
                          </a:solidFill>
                          <a:latin typeface="Calibri" pitchFamily="34" charset="0"/>
                          <a:ea typeface="Calibri" pitchFamily="34" charset="-122"/>
                          <a:cs typeface="Calibri" pitchFamily="34" charset="-120"/>
                        </a:rPr>
                        <a:t>1.935</a:t>
                      </a:r>
                      <a:endParaRPr lang="en-US" sz="135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F7FAFA"/>
                    </a:solidFill>
                  </a:tcPr>
                </a:tc>
                <a:extLst>
                  <a:ext uri="{0D108BD9-81ED-4DB2-BD59-A6C34878D82A}">
                    <a16:rowId xmlns:a16="http://schemas.microsoft.com/office/drawing/2014/main" val="10003"/>
                  </a:ext>
                </a:extLst>
              </a:tr>
            </a:tbl>
          </a:graphicData>
        </a:graphic>
      </p:graphicFrame>
      <p:pic>
        <p:nvPicPr>
          <p:cNvPr id="7" name="Image 0" descr="assets/FaCamera_teal.png"/>
          <p:cNvPicPr>
            <a:picLocks noChangeAspect="1"/>
          </p:cNvPicPr>
          <p:nvPr/>
        </p:nvPicPr>
        <p:blipFill>
          <a:blip r:embed="rId3"/>
          <a:stretch>
            <a:fillRect/>
          </a:stretch>
        </p:blipFill>
        <p:spPr>
          <a:xfrm>
            <a:off x="3566160" y="4633265"/>
            <a:ext cx="457200" cy="457200"/>
          </a:xfrm>
          <a:prstGeom prst="rect">
            <a:avLst/>
          </a:prstGeom>
        </p:spPr>
      </p:pic>
      <p:sp>
        <p:nvSpPr>
          <p:cNvPr id="8" name="Text 4"/>
          <p:cNvSpPr/>
          <p:nvPr/>
        </p:nvSpPr>
        <p:spPr>
          <a:xfrm>
            <a:off x="777240" y="5163617"/>
            <a:ext cx="6035040" cy="1054303"/>
          </a:xfrm>
          <a:prstGeom prst="rect">
            <a:avLst/>
          </a:prstGeom>
          <a:noFill/>
          <a:ln/>
        </p:spPr>
        <p:txBody>
          <a:bodyPr wrap="square" lIns="0" tIns="0" rIns="0" bIns="0" rtlCol="0" anchor="t"/>
          <a:lstStyle/>
          <a:p>
            <a:pPr marL="0" indent="0" algn="ctr">
              <a:buNone/>
            </a:pPr>
            <a:r>
              <a:rPr lang="en-US" sz="1100" i="1" dirty="0">
                <a:solidFill>
                  <a:srgbClr val="5B7A7E"/>
                </a:solidFill>
                <a:latin typeface="Calibri" pitchFamily="34" charset="0"/>
                <a:ea typeface="Calibri" pitchFamily="34" charset="-122"/>
                <a:cs typeface="Calibri" pitchFamily="34" charset="-120"/>
              </a:rPr>
              <a:t>PASTE HERE: Lift-sorted Orange results</a:t>
            </a:r>
            <a:endParaRPr lang="en-US" sz="1100" dirty="0"/>
          </a:p>
          <a:p>
            <a:pPr marL="0" indent="0" algn="ctr">
              <a:buNone/>
            </a:pPr>
            <a:r>
              <a:rPr lang="en-US" sz="1100" i="1" dirty="0">
                <a:solidFill>
                  <a:srgbClr val="5B7A7E"/>
                </a:solidFill>
                <a:latin typeface="Calibri" pitchFamily="34" charset="0"/>
                <a:ea typeface="Calibri" pitchFamily="34" charset="-122"/>
                <a:cs typeface="Calibri" pitchFamily="34" charset="-120"/>
              </a:rPr>
              <a:t>(cropped to top rules)</a:t>
            </a:r>
            <a:endParaRPr lang="en-US" sz="1100" dirty="0"/>
          </a:p>
        </p:txBody>
      </p:sp>
      <p:pic>
        <p:nvPicPr>
          <p:cNvPr id="5" name="Image 1" descr="assets/FaLightbulb_mint.png"/>
          <p:cNvPicPr>
            <a:picLocks noChangeAspect="1"/>
          </p:cNvPicPr>
          <p:nvPr/>
        </p:nvPicPr>
        <p:blipFill>
          <a:blip r:embed="rId4"/>
          <a:stretch>
            <a:fillRect/>
          </a:stretch>
        </p:blipFill>
        <p:spPr>
          <a:xfrm>
            <a:off x="7452360" y="4434840"/>
            <a:ext cx="502920" cy="502920"/>
          </a:xfrm>
          <a:prstGeom prst="rect">
            <a:avLst/>
          </a:prstGeom>
        </p:spPr>
      </p:pic>
      <p:grpSp>
        <p:nvGrpSpPr>
          <p:cNvPr id="18" name="Group 17">
            <a:extLst>
              <a:ext uri="{FF2B5EF4-FFF2-40B4-BE49-F238E27FC236}">
                <a16:creationId xmlns:a16="http://schemas.microsoft.com/office/drawing/2014/main" id="{7440929B-AFD7-0CCA-5855-6ED0908CF7A7}"/>
              </a:ext>
            </a:extLst>
          </p:cNvPr>
          <p:cNvGrpSpPr/>
          <p:nvPr/>
        </p:nvGrpSpPr>
        <p:grpSpPr>
          <a:xfrm>
            <a:off x="9247118" y="4185368"/>
            <a:ext cx="2870269" cy="2371951"/>
            <a:chOff x="8091710" y="4185368"/>
            <a:chExt cx="3955510" cy="1225137"/>
          </a:xfrm>
        </p:grpSpPr>
        <p:sp>
          <p:nvSpPr>
            <p:cNvPr id="9" name="Shape 5"/>
            <p:cNvSpPr/>
            <p:nvPr/>
          </p:nvSpPr>
          <p:spPr>
            <a:xfrm>
              <a:off x="8091710" y="4185368"/>
              <a:ext cx="3955510" cy="680830"/>
            </a:xfrm>
            <a:prstGeom prst="roundRect">
              <a:avLst>
                <a:gd name="adj" fmla="val 5106"/>
              </a:avLst>
            </a:prstGeom>
            <a:solidFill>
              <a:srgbClr val="028090"/>
            </a:solidFill>
            <a:ln/>
          </p:spPr>
        </p:sp>
        <p:sp>
          <p:nvSpPr>
            <p:cNvPr id="11" name="Text 6"/>
            <p:cNvSpPr/>
            <p:nvPr/>
          </p:nvSpPr>
          <p:spPr>
            <a:xfrm>
              <a:off x="8228870" y="4313225"/>
              <a:ext cx="3794760" cy="1097280"/>
            </a:xfrm>
            <a:prstGeom prst="rect">
              <a:avLst/>
            </a:prstGeom>
            <a:noFill/>
            <a:ln/>
          </p:spPr>
          <p:txBody>
            <a:bodyPr wrap="square" lIns="0" tIns="0" rIns="0" bIns="0" rtlCol="0" anchor="t"/>
            <a:lstStyle/>
            <a:p>
              <a:pPr marL="0" indent="0">
                <a:lnSpc>
                  <a:spcPct val="120000"/>
                </a:lnSpc>
                <a:buNone/>
              </a:pPr>
              <a:r>
                <a:rPr lang="en-US" sz="1300" dirty="0">
                  <a:solidFill>
                    <a:srgbClr val="FFFFFF"/>
                  </a:solidFill>
                  <a:latin typeface="Calibri" pitchFamily="34" charset="0"/>
                  <a:ea typeface="Calibri" pitchFamily="34" charset="-122"/>
                  <a:cs typeface="Calibri" pitchFamily="34" charset="-120"/>
                </a:rPr>
                <a:t>Higher lift = stronger association than random chance, these are the strongest patterns found</a:t>
              </a:r>
              <a:endParaRPr lang="en-US" sz="1300" dirty="0"/>
            </a:p>
          </p:txBody>
        </p:sp>
      </p:grpSp>
      <p:pic>
        <p:nvPicPr>
          <p:cNvPr id="13" name="Image 1" descr="assets/ribbon_real_cropped.png">
            <a:extLst>
              <a:ext uri="{FF2B5EF4-FFF2-40B4-BE49-F238E27FC236}">
                <a16:creationId xmlns:a16="http://schemas.microsoft.com/office/drawing/2014/main" id="{4D5493BD-EF39-E0F6-D949-75B93FB9BBB8}"/>
              </a:ext>
            </a:extLst>
          </p:cNvPr>
          <p:cNvPicPr>
            <a:picLocks noChangeAspect="1"/>
          </p:cNvPicPr>
          <p:nvPr/>
        </p:nvPicPr>
        <p:blipFill>
          <a:blip r:embed="rId5">
            <a:alphaModFix amt="28000"/>
          </a:blip>
          <a:stretch>
            <a:fillRect/>
          </a:stretch>
        </p:blipFill>
        <p:spPr>
          <a:xfrm rot="-360000">
            <a:off x="137890" y="5574141"/>
            <a:ext cx="731520" cy="1249048"/>
          </a:xfrm>
          <a:prstGeom prst="rect">
            <a:avLst/>
          </a:prstGeom>
        </p:spPr>
      </p:pic>
      <p:pic>
        <p:nvPicPr>
          <p:cNvPr id="15" name="Image 1" descr="assets/ribbon_real_cropped.png">
            <a:extLst>
              <a:ext uri="{FF2B5EF4-FFF2-40B4-BE49-F238E27FC236}">
                <a16:creationId xmlns:a16="http://schemas.microsoft.com/office/drawing/2014/main" id="{9947BE56-73E3-5570-CCD9-D60F0420F3A0}"/>
              </a:ext>
            </a:extLst>
          </p:cNvPr>
          <p:cNvPicPr>
            <a:picLocks noChangeAspect="1"/>
          </p:cNvPicPr>
          <p:nvPr/>
        </p:nvPicPr>
        <p:blipFill>
          <a:blip r:embed="rId5">
            <a:alphaModFix amt="28000"/>
          </a:blip>
          <a:stretch>
            <a:fillRect/>
          </a:stretch>
        </p:blipFill>
        <p:spPr>
          <a:xfrm rot="-360000">
            <a:off x="11397203" y="34811"/>
            <a:ext cx="731520" cy="1249048"/>
          </a:xfrm>
          <a:prstGeom prst="rect">
            <a:avLst/>
          </a:prstGeom>
        </p:spPr>
      </p:pic>
      <p:grpSp>
        <p:nvGrpSpPr>
          <p:cNvPr id="19" name="Group 18">
            <a:extLst>
              <a:ext uri="{FF2B5EF4-FFF2-40B4-BE49-F238E27FC236}">
                <a16:creationId xmlns:a16="http://schemas.microsoft.com/office/drawing/2014/main" id="{92DFE745-C41A-059F-1B16-94C24E121F3E}"/>
              </a:ext>
            </a:extLst>
          </p:cNvPr>
          <p:cNvGrpSpPr/>
          <p:nvPr/>
        </p:nvGrpSpPr>
        <p:grpSpPr>
          <a:xfrm>
            <a:off x="155119" y="3608221"/>
            <a:ext cx="9060211" cy="2590444"/>
            <a:chOff x="445273" y="4160520"/>
            <a:chExt cx="7522167" cy="2057400"/>
          </a:xfrm>
        </p:grpSpPr>
        <p:sp>
          <p:nvSpPr>
            <p:cNvPr id="6" name="Shape 3"/>
            <p:cNvSpPr/>
            <p:nvPr/>
          </p:nvSpPr>
          <p:spPr>
            <a:xfrm>
              <a:off x="445273" y="4160520"/>
              <a:ext cx="7522167" cy="2057400"/>
            </a:xfrm>
            <a:prstGeom prst="roundRect">
              <a:avLst>
                <a:gd name="adj" fmla="val 3404"/>
              </a:avLst>
            </a:prstGeom>
            <a:solidFill>
              <a:srgbClr val="FBFDFD"/>
            </a:solidFill>
            <a:ln w="15875">
              <a:solidFill>
                <a:srgbClr val="9FC4C7"/>
              </a:solidFill>
              <a:prstDash val="dash"/>
            </a:ln>
          </p:spPr>
        </p:sp>
        <p:pic>
          <p:nvPicPr>
            <p:cNvPr id="17" name="Picture 16">
              <a:extLst>
                <a:ext uri="{FF2B5EF4-FFF2-40B4-BE49-F238E27FC236}">
                  <a16:creationId xmlns:a16="http://schemas.microsoft.com/office/drawing/2014/main" id="{71766049-FC78-8A48-9691-C37A4F31B8E8}"/>
                </a:ext>
              </a:extLst>
            </p:cNvPr>
            <p:cNvPicPr>
              <a:picLocks noChangeAspect="1"/>
            </p:cNvPicPr>
            <p:nvPr/>
          </p:nvPicPr>
          <p:blipFill>
            <a:blip r:embed="rId6"/>
            <a:srcRect l="1" t="40886" r="-765"/>
            <a:stretch>
              <a:fillRect/>
            </a:stretch>
          </p:blipFill>
          <p:spPr>
            <a:xfrm>
              <a:off x="503650" y="4206859"/>
              <a:ext cx="7451630" cy="1965341"/>
            </a:xfrm>
            <a:prstGeom prst="rect">
              <a:avLst/>
            </a:prstGeom>
          </p:spPr>
        </p:pic>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640080" y="502920"/>
            <a:ext cx="10058400" cy="640080"/>
          </a:xfrm>
          <a:prstGeom prst="rect">
            <a:avLst/>
          </a:prstGeom>
          <a:noFill/>
          <a:ln/>
        </p:spPr>
        <p:txBody>
          <a:bodyPr wrap="square" lIns="0" tIns="0" rIns="0" bIns="0" rtlCol="0" anchor="ctr"/>
          <a:lstStyle/>
          <a:p>
            <a:pPr marL="0" indent="0">
              <a:buNone/>
            </a:pPr>
            <a:r>
              <a:rPr lang="en-US" sz="3000" b="1" dirty="0">
                <a:solidFill>
                  <a:srgbClr val="0B2545"/>
                </a:solidFill>
                <a:latin typeface="Cambria" pitchFamily="34" charset="0"/>
                <a:ea typeface="Cambria" pitchFamily="34" charset="-122"/>
                <a:cs typeface="Cambria" pitchFamily="34" charset="-120"/>
              </a:rPr>
              <a:t>Top Rules by Support  </a:t>
            </a:r>
            <a:endParaRPr lang="en-US" sz="3000" dirty="0"/>
          </a:p>
        </p:txBody>
      </p:sp>
      <p:graphicFrame>
        <p:nvGraphicFramePr>
          <p:cNvPr id="11" name="Table 0"/>
          <p:cNvGraphicFramePr>
            <a:graphicFrameLocks noGrp="1"/>
          </p:cNvGraphicFramePr>
          <p:nvPr>
            <p:extLst>
              <p:ext uri="{D42A27DB-BD31-4B8C-83A1-F6EECF244321}">
                <p14:modId xmlns:p14="http://schemas.microsoft.com/office/powerpoint/2010/main" val="1346759596"/>
              </p:ext>
            </p:extLst>
          </p:nvPr>
        </p:nvGraphicFramePr>
        <p:xfrm>
          <a:off x="599991" y="1580894"/>
          <a:ext cx="10705772" cy="1606626"/>
        </p:xfrm>
        <a:graphic>
          <a:graphicData uri="http://schemas.openxmlformats.org/drawingml/2006/table">
            <a:tbl>
              <a:tblPr/>
              <a:tblGrid>
                <a:gridCol w="8508739">
                  <a:extLst>
                    <a:ext uri="{9D8B030D-6E8A-4147-A177-3AD203B41FA5}">
                      <a16:colId xmlns:a16="http://schemas.microsoft.com/office/drawing/2014/main" val="20000"/>
                    </a:ext>
                  </a:extLst>
                </a:gridCol>
                <a:gridCol w="2197033">
                  <a:extLst>
                    <a:ext uri="{9D8B030D-6E8A-4147-A177-3AD203B41FA5}">
                      <a16:colId xmlns:a16="http://schemas.microsoft.com/office/drawing/2014/main" val="20001"/>
                    </a:ext>
                  </a:extLst>
                </a:gridCol>
              </a:tblGrid>
              <a:tr h="382248">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Rule (→ readmitted = &lt;30)</a:t>
                      </a:r>
                      <a:endParaRPr lang="en-US" sz="14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00A896"/>
                    </a:solidFill>
                  </a:tcPr>
                </a:tc>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Support</a:t>
                      </a:r>
                      <a:endParaRPr lang="en-US" sz="14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00A896"/>
                    </a:solidFill>
                  </a:tcPr>
                </a:tc>
                <a:extLst>
                  <a:ext uri="{0D108BD9-81ED-4DB2-BD59-A6C34878D82A}">
                    <a16:rowId xmlns:a16="http://schemas.microsoft.com/office/drawing/2014/main" val="10000"/>
                  </a:ext>
                </a:extLst>
              </a:tr>
              <a:tr h="408126">
                <a:tc>
                  <a:txBody>
                    <a:bodyPr/>
                    <a:lstStyle/>
                    <a:p>
                      <a:pPr marL="0" indent="0">
                        <a:buNone/>
                      </a:pPr>
                      <a:r>
                        <a:rPr lang="en-US" sz="1350" dirty="0">
                          <a:solidFill>
                            <a:srgbClr val="445566"/>
                          </a:solidFill>
                          <a:latin typeface="Calibri" pitchFamily="34" charset="0"/>
                          <a:ea typeface="Calibri" pitchFamily="34" charset="-122"/>
                          <a:cs typeface="Calibri" pitchFamily="34" charset="-120"/>
                        </a:rPr>
                        <a:t>number_inpatient ≥ 1.5</a:t>
                      </a:r>
                      <a:endParaRPr lang="en-US" sz="135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F7FAFA"/>
                    </a:solidFill>
                  </a:tcPr>
                </a:tc>
                <a:tc>
                  <a:txBody>
                    <a:bodyPr/>
                    <a:lstStyle/>
                    <a:p>
                      <a:pPr marL="0" indent="0" algn="ctr">
                        <a:buNone/>
                      </a:pPr>
                      <a:r>
                        <a:rPr lang="en-US" sz="1400" dirty="0">
                          <a:solidFill>
                            <a:srgbClr val="445566"/>
                          </a:solidFill>
                          <a:latin typeface="Calibri" pitchFamily="34" charset="0"/>
                          <a:ea typeface="Calibri" pitchFamily="34" charset="-122"/>
                          <a:cs typeface="Calibri" pitchFamily="34" charset="-120"/>
                        </a:rPr>
                        <a:t>0.031</a:t>
                      </a:r>
                      <a:endParaRPr lang="en-US" sz="14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F7FAFA"/>
                    </a:solidFill>
                  </a:tcPr>
                </a:tc>
                <a:extLst>
                  <a:ext uri="{0D108BD9-81ED-4DB2-BD59-A6C34878D82A}">
                    <a16:rowId xmlns:a16="http://schemas.microsoft.com/office/drawing/2014/main" val="10001"/>
                  </a:ext>
                </a:extLst>
              </a:tr>
              <a:tr h="408126">
                <a:tc>
                  <a:txBody>
                    <a:bodyPr/>
                    <a:lstStyle/>
                    <a:p>
                      <a:pPr marL="0" indent="0">
                        <a:buNone/>
                      </a:pPr>
                      <a:r>
                        <a:rPr lang="en-US" sz="1350" dirty="0">
                          <a:solidFill>
                            <a:srgbClr val="445566"/>
                          </a:solidFill>
                          <a:latin typeface="Calibri" pitchFamily="34" charset="0"/>
                          <a:ea typeface="Calibri" pitchFamily="34" charset="-122"/>
                          <a:cs typeface="Calibri" pitchFamily="34" charset="-120"/>
                        </a:rPr>
                        <a:t>number_inpatient ≥ 1.5,  max_glu_serum = None</a:t>
                      </a:r>
                      <a:endParaRPr lang="en-US" sz="135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400" dirty="0">
                          <a:solidFill>
                            <a:srgbClr val="445566"/>
                          </a:solidFill>
                          <a:latin typeface="Calibri" pitchFamily="34" charset="0"/>
                          <a:ea typeface="Calibri" pitchFamily="34" charset="-122"/>
                          <a:cs typeface="Calibri" pitchFamily="34" charset="-120"/>
                        </a:rPr>
                        <a:t>0.029</a:t>
                      </a:r>
                      <a:endParaRPr lang="en-US" sz="14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FFFFFF"/>
                    </a:solidFill>
                  </a:tcPr>
                </a:tc>
                <a:extLst>
                  <a:ext uri="{0D108BD9-81ED-4DB2-BD59-A6C34878D82A}">
                    <a16:rowId xmlns:a16="http://schemas.microsoft.com/office/drawing/2014/main" val="10002"/>
                  </a:ext>
                </a:extLst>
              </a:tr>
              <a:tr h="408126">
                <a:tc>
                  <a:txBody>
                    <a:bodyPr/>
                    <a:lstStyle/>
                    <a:p>
                      <a:pPr marL="0" indent="0">
                        <a:buNone/>
                      </a:pPr>
                      <a:r>
                        <a:rPr lang="en-US" sz="1350" dirty="0">
                          <a:solidFill>
                            <a:srgbClr val="445566"/>
                          </a:solidFill>
                          <a:latin typeface="Calibri" pitchFamily="34" charset="0"/>
                          <a:ea typeface="Calibri" pitchFamily="34" charset="-122"/>
                          <a:cs typeface="Calibri" pitchFamily="34" charset="-120"/>
                        </a:rPr>
                        <a:t>number_inpatient ≥ 1.5,  A1Cresult = None</a:t>
                      </a:r>
                      <a:endParaRPr lang="en-US" sz="135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F7FAFA"/>
                    </a:solidFill>
                  </a:tcPr>
                </a:tc>
                <a:tc>
                  <a:txBody>
                    <a:bodyPr/>
                    <a:lstStyle/>
                    <a:p>
                      <a:pPr marL="0" indent="0" algn="ctr">
                        <a:buNone/>
                      </a:pPr>
                      <a:r>
                        <a:rPr lang="en-US" sz="1400" dirty="0">
                          <a:solidFill>
                            <a:srgbClr val="445566"/>
                          </a:solidFill>
                          <a:latin typeface="Calibri" pitchFamily="34" charset="0"/>
                          <a:ea typeface="Calibri" pitchFamily="34" charset="-122"/>
                          <a:cs typeface="Calibri" pitchFamily="34" charset="-120"/>
                        </a:rPr>
                        <a:t>0.027</a:t>
                      </a:r>
                      <a:endParaRPr lang="en-US" sz="14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F7FAFA"/>
                    </a:solidFill>
                  </a:tcPr>
                </a:tc>
                <a:extLst>
                  <a:ext uri="{0D108BD9-81ED-4DB2-BD59-A6C34878D82A}">
                    <a16:rowId xmlns:a16="http://schemas.microsoft.com/office/drawing/2014/main" val="10003"/>
                  </a:ext>
                </a:extLst>
              </a:tr>
            </a:tbl>
          </a:graphicData>
        </a:graphic>
      </p:graphicFrame>
      <p:pic>
        <p:nvPicPr>
          <p:cNvPr id="8" name="Image 0" descr="assets/FaCamera_teal.png"/>
          <p:cNvPicPr>
            <a:picLocks noChangeAspect="1"/>
          </p:cNvPicPr>
          <p:nvPr/>
        </p:nvPicPr>
        <p:blipFill>
          <a:blip r:embed="rId3"/>
          <a:stretch>
            <a:fillRect/>
          </a:stretch>
        </p:blipFill>
        <p:spPr>
          <a:xfrm>
            <a:off x="5868619" y="5366614"/>
            <a:ext cx="424282" cy="424282"/>
          </a:xfrm>
          <a:prstGeom prst="rect">
            <a:avLst/>
          </a:prstGeom>
        </p:spPr>
      </p:pic>
      <p:sp>
        <p:nvSpPr>
          <p:cNvPr id="9" name="Text 5"/>
          <p:cNvSpPr/>
          <p:nvPr/>
        </p:nvSpPr>
        <p:spPr>
          <a:xfrm>
            <a:off x="3246120" y="5864047"/>
            <a:ext cx="5669280" cy="445313"/>
          </a:xfrm>
          <a:prstGeom prst="rect">
            <a:avLst/>
          </a:prstGeom>
          <a:noFill/>
          <a:ln/>
        </p:spPr>
        <p:txBody>
          <a:bodyPr wrap="square" lIns="0" tIns="0" rIns="0" bIns="0" rtlCol="0" anchor="t"/>
          <a:lstStyle/>
          <a:p>
            <a:pPr marL="0" indent="0" algn="ctr">
              <a:buNone/>
            </a:pPr>
            <a:r>
              <a:rPr lang="en-US" sz="1100" i="1" dirty="0">
                <a:solidFill>
                  <a:srgbClr val="5B7A7E"/>
                </a:solidFill>
                <a:latin typeface="Calibri" pitchFamily="34" charset="0"/>
                <a:ea typeface="Calibri" pitchFamily="34" charset="-122"/>
                <a:cs typeface="Calibri" pitchFamily="34" charset="-120"/>
              </a:rPr>
              <a:t>OPTIONAL: small Support-sorted Orange screenshot</a:t>
            </a:r>
            <a:endParaRPr lang="en-US" sz="1100" dirty="0"/>
          </a:p>
        </p:txBody>
      </p:sp>
      <p:pic>
        <p:nvPicPr>
          <p:cNvPr id="10" name="Image 1" descr="assets/ribbon_real_cropped.png">
            <a:extLst>
              <a:ext uri="{FF2B5EF4-FFF2-40B4-BE49-F238E27FC236}">
                <a16:creationId xmlns:a16="http://schemas.microsoft.com/office/drawing/2014/main" id="{E6B04629-E8D7-05B8-AA78-B0776159F204}"/>
              </a:ext>
            </a:extLst>
          </p:cNvPr>
          <p:cNvPicPr>
            <a:picLocks noChangeAspect="1"/>
          </p:cNvPicPr>
          <p:nvPr/>
        </p:nvPicPr>
        <p:blipFill>
          <a:blip r:embed="rId4">
            <a:alphaModFix amt="28000"/>
          </a:blip>
          <a:stretch>
            <a:fillRect/>
          </a:stretch>
        </p:blipFill>
        <p:spPr>
          <a:xfrm rot="-360000">
            <a:off x="137890" y="5574141"/>
            <a:ext cx="731520" cy="1249048"/>
          </a:xfrm>
          <a:prstGeom prst="rect">
            <a:avLst/>
          </a:prstGeom>
        </p:spPr>
      </p:pic>
      <p:pic>
        <p:nvPicPr>
          <p:cNvPr id="13" name="Image 1" descr="assets/ribbon_real_cropped.png">
            <a:extLst>
              <a:ext uri="{FF2B5EF4-FFF2-40B4-BE49-F238E27FC236}">
                <a16:creationId xmlns:a16="http://schemas.microsoft.com/office/drawing/2014/main" id="{D4B86338-93A0-7E73-BEAB-5C333FEDDC3C}"/>
              </a:ext>
            </a:extLst>
          </p:cNvPr>
          <p:cNvPicPr>
            <a:picLocks noChangeAspect="1"/>
          </p:cNvPicPr>
          <p:nvPr/>
        </p:nvPicPr>
        <p:blipFill>
          <a:blip r:embed="rId4">
            <a:alphaModFix amt="28000"/>
          </a:blip>
          <a:stretch>
            <a:fillRect/>
          </a:stretch>
        </p:blipFill>
        <p:spPr>
          <a:xfrm rot="-360000">
            <a:off x="11409130" y="8598"/>
            <a:ext cx="731520" cy="1249048"/>
          </a:xfrm>
          <a:prstGeom prst="rect">
            <a:avLst/>
          </a:prstGeom>
        </p:spPr>
      </p:pic>
      <p:grpSp>
        <p:nvGrpSpPr>
          <p:cNvPr id="21" name="Group 20">
            <a:extLst>
              <a:ext uri="{FF2B5EF4-FFF2-40B4-BE49-F238E27FC236}">
                <a16:creationId xmlns:a16="http://schemas.microsoft.com/office/drawing/2014/main" id="{889981DB-AC42-CF22-CC38-1737491FD66E}"/>
              </a:ext>
            </a:extLst>
          </p:cNvPr>
          <p:cNvGrpSpPr/>
          <p:nvPr/>
        </p:nvGrpSpPr>
        <p:grpSpPr>
          <a:xfrm>
            <a:off x="205910" y="3625414"/>
            <a:ext cx="8822471" cy="2544504"/>
            <a:chOff x="74613" y="3929449"/>
            <a:chExt cx="8822471" cy="2544504"/>
          </a:xfrm>
        </p:grpSpPr>
        <p:sp>
          <p:nvSpPr>
            <p:cNvPr id="7" name="Shape 4"/>
            <p:cNvSpPr/>
            <p:nvPr/>
          </p:nvSpPr>
          <p:spPr>
            <a:xfrm>
              <a:off x="74613" y="3929449"/>
              <a:ext cx="8822471" cy="2544504"/>
            </a:xfrm>
            <a:prstGeom prst="roundRect">
              <a:avLst>
                <a:gd name="adj" fmla="val 5517"/>
              </a:avLst>
            </a:prstGeom>
            <a:solidFill>
              <a:srgbClr val="FBFDFD"/>
            </a:solidFill>
            <a:ln w="15875">
              <a:solidFill>
                <a:srgbClr val="9FC4C7"/>
              </a:solidFill>
              <a:prstDash val="dash"/>
            </a:ln>
          </p:spPr>
        </p:sp>
        <p:pic>
          <p:nvPicPr>
            <p:cNvPr id="15" name="Picture 14">
              <a:extLst>
                <a:ext uri="{FF2B5EF4-FFF2-40B4-BE49-F238E27FC236}">
                  <a16:creationId xmlns:a16="http://schemas.microsoft.com/office/drawing/2014/main" id="{F072CDCD-2833-D7E6-F8CA-2B26F0FF893D}"/>
                </a:ext>
              </a:extLst>
            </p:cNvPr>
            <p:cNvPicPr>
              <a:picLocks noChangeAspect="1"/>
            </p:cNvPicPr>
            <p:nvPr/>
          </p:nvPicPr>
          <p:blipFill>
            <a:blip r:embed="rId5"/>
            <a:stretch>
              <a:fillRect/>
            </a:stretch>
          </p:blipFill>
          <p:spPr>
            <a:xfrm>
              <a:off x="184594" y="4028304"/>
              <a:ext cx="8677555" cy="2410432"/>
            </a:xfrm>
            <a:prstGeom prst="rect">
              <a:avLst/>
            </a:prstGeom>
          </p:spPr>
        </p:pic>
      </p:grpSp>
      <p:grpSp>
        <p:nvGrpSpPr>
          <p:cNvPr id="18" name="Group 17">
            <a:extLst>
              <a:ext uri="{FF2B5EF4-FFF2-40B4-BE49-F238E27FC236}">
                <a16:creationId xmlns:a16="http://schemas.microsoft.com/office/drawing/2014/main" id="{76D6F244-1140-D5A0-F393-B6D88A3E51F8}"/>
              </a:ext>
            </a:extLst>
          </p:cNvPr>
          <p:cNvGrpSpPr/>
          <p:nvPr/>
        </p:nvGrpSpPr>
        <p:grpSpPr>
          <a:xfrm>
            <a:off x="9078631" y="4126172"/>
            <a:ext cx="2898295" cy="1606625"/>
            <a:chOff x="8091710" y="4185368"/>
            <a:chExt cx="3955510" cy="680830"/>
          </a:xfrm>
        </p:grpSpPr>
        <p:sp>
          <p:nvSpPr>
            <p:cNvPr id="19" name="Shape 5">
              <a:extLst>
                <a:ext uri="{FF2B5EF4-FFF2-40B4-BE49-F238E27FC236}">
                  <a16:creationId xmlns:a16="http://schemas.microsoft.com/office/drawing/2014/main" id="{0D9522B0-9ADC-AA94-92F1-5EB706DFCE94}"/>
                </a:ext>
              </a:extLst>
            </p:cNvPr>
            <p:cNvSpPr/>
            <p:nvPr/>
          </p:nvSpPr>
          <p:spPr>
            <a:xfrm>
              <a:off x="8091710" y="4185368"/>
              <a:ext cx="3955510" cy="680830"/>
            </a:xfrm>
            <a:prstGeom prst="roundRect">
              <a:avLst>
                <a:gd name="adj" fmla="val 5106"/>
              </a:avLst>
            </a:prstGeom>
            <a:solidFill>
              <a:srgbClr val="00A896"/>
            </a:solidFill>
            <a:ln/>
          </p:spPr>
        </p:sp>
        <p:sp>
          <p:nvSpPr>
            <p:cNvPr id="20" name="Text 6">
              <a:extLst>
                <a:ext uri="{FF2B5EF4-FFF2-40B4-BE49-F238E27FC236}">
                  <a16:creationId xmlns:a16="http://schemas.microsoft.com/office/drawing/2014/main" id="{0E1231D2-0D32-376C-A7BF-75549B042E1D}"/>
                </a:ext>
              </a:extLst>
            </p:cNvPr>
            <p:cNvSpPr/>
            <p:nvPr/>
          </p:nvSpPr>
          <p:spPr>
            <a:xfrm>
              <a:off x="8228870" y="4313225"/>
              <a:ext cx="3794760" cy="552973"/>
            </a:xfrm>
            <a:prstGeom prst="rect">
              <a:avLst/>
            </a:prstGeom>
            <a:noFill/>
            <a:ln/>
          </p:spPr>
          <p:txBody>
            <a:bodyPr wrap="square" lIns="0" tIns="0" rIns="0" bIns="0" rtlCol="0" anchor="t"/>
            <a:lstStyle/>
            <a:p>
              <a:pPr marL="0" indent="0">
                <a:lnSpc>
                  <a:spcPct val="120000"/>
                </a:lnSpc>
                <a:buNone/>
              </a:pPr>
              <a:r>
                <a:rPr lang="en-US" sz="1300" dirty="0">
                  <a:solidFill>
                    <a:srgbClr val="FFFFFF"/>
                  </a:solidFill>
                  <a:latin typeface="Calibri" pitchFamily="34" charset="0"/>
                  <a:ea typeface="Calibri" pitchFamily="34" charset="-122"/>
                  <a:cs typeface="Calibri" pitchFamily="34" charset="-120"/>
                </a:rPr>
                <a:t>Higher support = pattern appears more often in the dataset; these are the most common early-readmission patterns found.</a:t>
              </a:r>
              <a:endParaRPr lang="en-US" sz="1300" dirty="0"/>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CE3E2F04-B002-4F7D-EDC1-E62B1125893D}"/>
            </a:ext>
          </a:extLst>
        </p:cNvPr>
        <p:cNvGrpSpPr/>
        <p:nvPr/>
      </p:nvGrpSpPr>
      <p:grpSpPr>
        <a:xfrm>
          <a:off x="0" y="0"/>
          <a:ext cx="0" cy="0"/>
          <a:chOff x="0" y="0"/>
          <a:chExt cx="0" cy="0"/>
        </a:xfrm>
      </p:grpSpPr>
      <p:sp>
        <p:nvSpPr>
          <p:cNvPr id="4" name="Text 2">
            <a:extLst>
              <a:ext uri="{FF2B5EF4-FFF2-40B4-BE49-F238E27FC236}">
                <a16:creationId xmlns:a16="http://schemas.microsoft.com/office/drawing/2014/main" id="{AB71A3F4-3420-65E5-A553-F6E9F89D7394}"/>
              </a:ext>
            </a:extLst>
          </p:cNvPr>
          <p:cNvSpPr/>
          <p:nvPr/>
        </p:nvSpPr>
        <p:spPr>
          <a:xfrm>
            <a:off x="640080" y="502920"/>
            <a:ext cx="10058400" cy="640080"/>
          </a:xfrm>
          <a:prstGeom prst="rect">
            <a:avLst/>
          </a:prstGeom>
          <a:noFill/>
          <a:ln/>
        </p:spPr>
        <p:txBody>
          <a:bodyPr wrap="square" lIns="0" tIns="0" rIns="0" bIns="0" rtlCol="0" anchor="ctr"/>
          <a:lstStyle/>
          <a:p>
            <a:pPr marL="0" indent="0">
              <a:buNone/>
            </a:pPr>
            <a:r>
              <a:rPr lang="en-US" sz="3000" b="1" dirty="0">
                <a:solidFill>
                  <a:srgbClr val="0B2545"/>
                </a:solidFill>
                <a:latin typeface="Cambria" pitchFamily="34" charset="0"/>
                <a:ea typeface="Cambria" pitchFamily="34" charset="-122"/>
                <a:cs typeface="Cambria" pitchFamily="34" charset="-120"/>
              </a:rPr>
              <a:t>Top Rules by Confidence</a:t>
            </a:r>
            <a:endParaRPr lang="en-US" sz="3000" dirty="0"/>
          </a:p>
        </p:txBody>
      </p:sp>
      <p:graphicFrame>
        <p:nvGraphicFramePr>
          <p:cNvPr id="11" name="Table 0">
            <a:extLst>
              <a:ext uri="{FF2B5EF4-FFF2-40B4-BE49-F238E27FC236}">
                <a16:creationId xmlns:a16="http://schemas.microsoft.com/office/drawing/2014/main" id="{8EFD8192-61D1-E3AA-1BEB-566EADFB6C63}"/>
              </a:ext>
            </a:extLst>
          </p:cNvPr>
          <p:cNvGraphicFramePr>
            <a:graphicFrameLocks noGrp="1"/>
          </p:cNvGraphicFramePr>
          <p:nvPr>
            <p:extLst>
              <p:ext uri="{D42A27DB-BD31-4B8C-83A1-F6EECF244321}">
                <p14:modId xmlns:p14="http://schemas.microsoft.com/office/powerpoint/2010/main" val="3765672693"/>
              </p:ext>
            </p:extLst>
          </p:nvPr>
        </p:nvGraphicFramePr>
        <p:xfrm>
          <a:off x="640079" y="1691640"/>
          <a:ext cx="10897263" cy="1592248"/>
        </p:xfrm>
        <a:graphic>
          <a:graphicData uri="http://schemas.openxmlformats.org/drawingml/2006/table">
            <a:tbl>
              <a:tblPr/>
              <a:tblGrid>
                <a:gridCol w="8660933">
                  <a:extLst>
                    <a:ext uri="{9D8B030D-6E8A-4147-A177-3AD203B41FA5}">
                      <a16:colId xmlns:a16="http://schemas.microsoft.com/office/drawing/2014/main" val="20000"/>
                    </a:ext>
                  </a:extLst>
                </a:gridCol>
                <a:gridCol w="2236330">
                  <a:extLst>
                    <a:ext uri="{9D8B030D-6E8A-4147-A177-3AD203B41FA5}">
                      <a16:colId xmlns:a16="http://schemas.microsoft.com/office/drawing/2014/main" val="20002"/>
                    </a:ext>
                  </a:extLst>
                </a:gridCol>
              </a:tblGrid>
              <a:tr h="398062">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Rule (→ readmitted = &lt;30)</a:t>
                      </a:r>
                      <a:endParaRPr lang="en-US" sz="14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028090"/>
                    </a:solidFill>
                  </a:tcPr>
                </a:tc>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Confidence</a:t>
                      </a:r>
                      <a:endParaRPr lang="en-US" sz="14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028090"/>
                    </a:solidFill>
                  </a:tcPr>
                </a:tc>
                <a:extLst>
                  <a:ext uri="{0D108BD9-81ED-4DB2-BD59-A6C34878D82A}">
                    <a16:rowId xmlns:a16="http://schemas.microsoft.com/office/drawing/2014/main" val="10000"/>
                  </a:ext>
                </a:extLst>
              </a:tr>
              <a:tr h="39806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350" dirty="0" err="1">
                          <a:solidFill>
                            <a:srgbClr val="445566"/>
                          </a:solidFill>
                          <a:latin typeface="Calibri" pitchFamily="34" charset="0"/>
                          <a:ea typeface="Calibri" pitchFamily="34" charset="-122"/>
                          <a:cs typeface="Calibri" pitchFamily="34" charset="-120"/>
                        </a:rPr>
                        <a:t>number_inpatient</a:t>
                      </a:r>
                      <a:r>
                        <a:rPr lang="en-US" sz="1350" dirty="0">
                          <a:solidFill>
                            <a:srgbClr val="445566"/>
                          </a:solidFill>
                          <a:latin typeface="Calibri" pitchFamily="34" charset="0"/>
                          <a:ea typeface="Calibri" pitchFamily="34" charset="-122"/>
                          <a:cs typeface="Calibri" pitchFamily="34" charset="-120"/>
                        </a:rPr>
                        <a:t> ≥ 1.5,  A1Cresult = None</a:t>
                      </a:r>
                      <a:endParaRPr lang="en-US" sz="135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F7FAFA"/>
                    </a:solidFill>
                  </a:tcPr>
                </a:tc>
                <a:tc>
                  <a:txBody>
                    <a:bodyPr/>
                    <a:lstStyle/>
                    <a:p>
                      <a:pPr marL="0" indent="0" algn="ctr">
                        <a:buNone/>
                      </a:pPr>
                      <a:r>
                        <a:rPr lang="en-US" sz="1400" dirty="0">
                          <a:solidFill>
                            <a:srgbClr val="445566"/>
                          </a:solidFill>
                          <a:latin typeface="Calibri" pitchFamily="34" charset="0"/>
                          <a:ea typeface="Calibri" pitchFamily="34" charset="-122"/>
                          <a:cs typeface="Calibri" pitchFamily="34" charset="-120"/>
                        </a:rPr>
                        <a:t>0.217</a:t>
                      </a:r>
                      <a:endParaRPr lang="en-US" sz="14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F7FAFA"/>
                    </a:solidFill>
                  </a:tcPr>
                </a:tc>
                <a:extLst>
                  <a:ext uri="{0D108BD9-81ED-4DB2-BD59-A6C34878D82A}">
                    <a16:rowId xmlns:a16="http://schemas.microsoft.com/office/drawing/2014/main" val="10001"/>
                  </a:ext>
                </a:extLst>
              </a:tr>
              <a:tr h="398062">
                <a:tc>
                  <a:txBody>
                    <a:bodyPr/>
                    <a:lstStyle/>
                    <a:p>
                      <a:pPr marL="0" indent="0">
                        <a:buNone/>
                      </a:pPr>
                      <a:r>
                        <a:rPr lang="en-US" sz="1350" dirty="0" err="1">
                          <a:solidFill>
                            <a:srgbClr val="445566"/>
                          </a:solidFill>
                          <a:latin typeface="Calibri" pitchFamily="34" charset="0"/>
                          <a:ea typeface="Calibri" pitchFamily="34" charset="-122"/>
                          <a:cs typeface="Calibri" pitchFamily="34" charset="-120"/>
                        </a:rPr>
                        <a:t>number_inpatient</a:t>
                      </a:r>
                      <a:r>
                        <a:rPr lang="en-US" sz="1350" dirty="0">
                          <a:solidFill>
                            <a:srgbClr val="445566"/>
                          </a:solidFill>
                          <a:latin typeface="Calibri" pitchFamily="34" charset="0"/>
                          <a:ea typeface="Calibri" pitchFamily="34" charset="-122"/>
                          <a:cs typeface="Calibri" pitchFamily="34" charset="-120"/>
                        </a:rPr>
                        <a:t> ≥ 1.5</a:t>
                      </a:r>
                      <a:endParaRPr lang="en-US" sz="135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ctr">
                        <a:buNone/>
                      </a:pPr>
                      <a:r>
                        <a:rPr lang="en-US" sz="1400" dirty="0">
                          <a:solidFill>
                            <a:srgbClr val="445566"/>
                          </a:solidFill>
                          <a:latin typeface="Calibri" pitchFamily="34" charset="0"/>
                          <a:ea typeface="Calibri" pitchFamily="34" charset="-122"/>
                          <a:cs typeface="Calibri" pitchFamily="34" charset="-120"/>
                        </a:rPr>
                        <a:t>0.214</a:t>
                      </a:r>
                      <a:endParaRPr lang="en-US" sz="14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FFFFFF"/>
                    </a:solidFill>
                  </a:tcPr>
                </a:tc>
                <a:extLst>
                  <a:ext uri="{0D108BD9-81ED-4DB2-BD59-A6C34878D82A}">
                    <a16:rowId xmlns:a16="http://schemas.microsoft.com/office/drawing/2014/main" val="10002"/>
                  </a:ext>
                </a:extLst>
              </a:tr>
              <a:tr h="398062">
                <a:tc>
                  <a:txBody>
                    <a:bodyPr/>
                    <a:lstStyle/>
                    <a:p>
                      <a:pPr marL="0" indent="0">
                        <a:buNone/>
                      </a:pPr>
                      <a:r>
                        <a:rPr lang="en-US" sz="1350" dirty="0" err="1">
                          <a:solidFill>
                            <a:srgbClr val="445566"/>
                          </a:solidFill>
                          <a:latin typeface="Calibri" pitchFamily="34" charset="0"/>
                          <a:ea typeface="Calibri" pitchFamily="34" charset="-122"/>
                          <a:cs typeface="Calibri" pitchFamily="34" charset="-120"/>
                        </a:rPr>
                        <a:t>number_inpatient</a:t>
                      </a:r>
                      <a:r>
                        <a:rPr lang="en-US" sz="1350" dirty="0">
                          <a:solidFill>
                            <a:srgbClr val="445566"/>
                          </a:solidFill>
                          <a:latin typeface="Calibri" pitchFamily="34" charset="0"/>
                          <a:ea typeface="Calibri" pitchFamily="34" charset="-122"/>
                          <a:cs typeface="Calibri" pitchFamily="34" charset="-120"/>
                        </a:rPr>
                        <a:t> ≥ 1.5,  </a:t>
                      </a:r>
                      <a:r>
                        <a:rPr lang="en-US" sz="1350" dirty="0" err="1">
                          <a:solidFill>
                            <a:srgbClr val="445566"/>
                          </a:solidFill>
                          <a:latin typeface="Calibri" pitchFamily="34" charset="0"/>
                          <a:ea typeface="Calibri" pitchFamily="34" charset="-122"/>
                          <a:cs typeface="Calibri" pitchFamily="34" charset="-120"/>
                        </a:rPr>
                        <a:t>max_glu_serum</a:t>
                      </a:r>
                      <a:r>
                        <a:rPr lang="en-US" sz="1350" dirty="0">
                          <a:solidFill>
                            <a:srgbClr val="445566"/>
                          </a:solidFill>
                          <a:latin typeface="Calibri" pitchFamily="34" charset="0"/>
                          <a:ea typeface="Calibri" pitchFamily="34" charset="-122"/>
                          <a:cs typeface="Calibri" pitchFamily="34" charset="-120"/>
                        </a:rPr>
                        <a:t> = None</a:t>
                      </a:r>
                      <a:endParaRPr lang="en-US" sz="135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F7FAFA"/>
                    </a:solidFill>
                  </a:tcPr>
                </a:tc>
                <a:tc>
                  <a:txBody>
                    <a:bodyPr/>
                    <a:lstStyle/>
                    <a:p>
                      <a:pPr marL="0" indent="0" algn="ctr">
                        <a:buNone/>
                      </a:pPr>
                      <a:r>
                        <a:rPr lang="en-US" sz="1400" dirty="0">
                          <a:solidFill>
                            <a:srgbClr val="445566"/>
                          </a:solidFill>
                          <a:latin typeface="Calibri" pitchFamily="34" charset="0"/>
                          <a:ea typeface="Calibri" pitchFamily="34" charset="-122"/>
                          <a:cs typeface="Calibri" pitchFamily="34" charset="-120"/>
                        </a:rPr>
                        <a:t>0.212</a:t>
                      </a:r>
                      <a:endParaRPr lang="en-US" sz="1400" dirty="0">
                        <a:latin typeface="Calibri" charset="0"/>
                        <a:ea typeface="Calibri" charset="0"/>
                        <a:cs typeface="Calibri" charset="0"/>
                      </a:endParaRPr>
                    </a:p>
                  </a:txBody>
                  <a:tcPr anchor="ctr">
                    <a:lnL w="0" cap="flat" cmpd="sng" algn="ctr">
                      <a:noFill/>
                    </a:lnL>
                    <a:lnR w="0" cap="flat" cmpd="sng" algn="ctr">
                      <a:noFill/>
                    </a:lnR>
                    <a:lnT w="0" cap="flat" cmpd="sng" algn="ctr">
                      <a:noFill/>
                    </a:lnT>
                    <a:lnB w="0" cap="flat" cmpd="sng" algn="ctr">
                      <a:noFill/>
                    </a:lnB>
                    <a:solidFill>
                      <a:srgbClr val="F7FAFA"/>
                    </a:solidFill>
                  </a:tcPr>
                </a:tc>
                <a:extLst>
                  <a:ext uri="{0D108BD9-81ED-4DB2-BD59-A6C34878D82A}">
                    <a16:rowId xmlns:a16="http://schemas.microsoft.com/office/drawing/2014/main" val="10003"/>
                  </a:ext>
                </a:extLst>
              </a:tr>
            </a:tbl>
          </a:graphicData>
        </a:graphic>
      </p:graphicFrame>
      <p:sp>
        <p:nvSpPr>
          <p:cNvPr id="7" name="Shape 4">
            <a:extLst>
              <a:ext uri="{FF2B5EF4-FFF2-40B4-BE49-F238E27FC236}">
                <a16:creationId xmlns:a16="http://schemas.microsoft.com/office/drawing/2014/main" id="{C841A28A-C61E-CC32-87A8-43D881D45554}"/>
              </a:ext>
            </a:extLst>
          </p:cNvPr>
          <p:cNvSpPr/>
          <p:nvPr/>
        </p:nvSpPr>
        <p:spPr>
          <a:xfrm>
            <a:off x="91730" y="3574113"/>
            <a:ext cx="8960830" cy="2628980"/>
          </a:xfrm>
          <a:prstGeom prst="roundRect">
            <a:avLst>
              <a:gd name="adj" fmla="val 5517"/>
            </a:avLst>
          </a:prstGeom>
          <a:solidFill>
            <a:srgbClr val="FBFDFD"/>
          </a:solidFill>
          <a:ln w="15875">
            <a:solidFill>
              <a:srgbClr val="9FC4C7"/>
            </a:solidFill>
            <a:prstDash val="dash"/>
          </a:ln>
        </p:spPr>
      </p:sp>
      <p:sp>
        <p:nvSpPr>
          <p:cNvPr id="9" name="Text 5">
            <a:extLst>
              <a:ext uri="{FF2B5EF4-FFF2-40B4-BE49-F238E27FC236}">
                <a16:creationId xmlns:a16="http://schemas.microsoft.com/office/drawing/2014/main" id="{F6567D36-A3EB-EFED-09F5-B582113D409D}"/>
              </a:ext>
            </a:extLst>
          </p:cNvPr>
          <p:cNvSpPr/>
          <p:nvPr/>
        </p:nvSpPr>
        <p:spPr>
          <a:xfrm>
            <a:off x="3246120" y="5864047"/>
            <a:ext cx="5669280" cy="445313"/>
          </a:xfrm>
          <a:prstGeom prst="rect">
            <a:avLst/>
          </a:prstGeom>
          <a:noFill/>
          <a:ln/>
        </p:spPr>
        <p:txBody>
          <a:bodyPr wrap="square" lIns="0" tIns="0" rIns="0" bIns="0" rtlCol="0" anchor="t"/>
          <a:lstStyle/>
          <a:p>
            <a:pPr marL="0" indent="0" algn="ctr">
              <a:buNone/>
            </a:pPr>
            <a:endParaRPr lang="en-US" sz="1100" dirty="0"/>
          </a:p>
        </p:txBody>
      </p:sp>
      <p:pic>
        <p:nvPicPr>
          <p:cNvPr id="10" name="Image 1" descr="assets/ribbon_real_cropped.png">
            <a:extLst>
              <a:ext uri="{FF2B5EF4-FFF2-40B4-BE49-F238E27FC236}">
                <a16:creationId xmlns:a16="http://schemas.microsoft.com/office/drawing/2014/main" id="{014956C7-F3F2-CF27-CF15-7B9644F0ED81}"/>
              </a:ext>
            </a:extLst>
          </p:cNvPr>
          <p:cNvPicPr>
            <a:picLocks noChangeAspect="1"/>
          </p:cNvPicPr>
          <p:nvPr/>
        </p:nvPicPr>
        <p:blipFill>
          <a:blip r:embed="rId3">
            <a:alphaModFix amt="28000"/>
          </a:blip>
          <a:stretch>
            <a:fillRect/>
          </a:stretch>
        </p:blipFill>
        <p:spPr>
          <a:xfrm rot="-360000">
            <a:off x="137890" y="5574141"/>
            <a:ext cx="731520" cy="1249048"/>
          </a:xfrm>
          <a:prstGeom prst="rect">
            <a:avLst/>
          </a:prstGeom>
        </p:spPr>
      </p:pic>
      <p:pic>
        <p:nvPicPr>
          <p:cNvPr id="13" name="Image 1" descr="assets/ribbon_real_cropped.png">
            <a:extLst>
              <a:ext uri="{FF2B5EF4-FFF2-40B4-BE49-F238E27FC236}">
                <a16:creationId xmlns:a16="http://schemas.microsoft.com/office/drawing/2014/main" id="{425F93FB-F4E0-9C0E-739F-B9E45DDEEF54}"/>
              </a:ext>
            </a:extLst>
          </p:cNvPr>
          <p:cNvPicPr>
            <a:picLocks noChangeAspect="1"/>
          </p:cNvPicPr>
          <p:nvPr/>
        </p:nvPicPr>
        <p:blipFill>
          <a:blip r:embed="rId3">
            <a:alphaModFix amt="28000"/>
          </a:blip>
          <a:stretch>
            <a:fillRect/>
          </a:stretch>
        </p:blipFill>
        <p:spPr>
          <a:xfrm rot="-360000">
            <a:off x="11409130" y="8598"/>
            <a:ext cx="731520" cy="1249048"/>
          </a:xfrm>
          <a:prstGeom prst="rect">
            <a:avLst/>
          </a:prstGeom>
        </p:spPr>
      </p:pic>
      <p:grpSp>
        <p:nvGrpSpPr>
          <p:cNvPr id="12" name="Group 11">
            <a:extLst>
              <a:ext uri="{FF2B5EF4-FFF2-40B4-BE49-F238E27FC236}">
                <a16:creationId xmlns:a16="http://schemas.microsoft.com/office/drawing/2014/main" id="{8E767CB1-948B-1C32-872D-31D0FAAE1C9E}"/>
              </a:ext>
            </a:extLst>
          </p:cNvPr>
          <p:cNvGrpSpPr/>
          <p:nvPr/>
        </p:nvGrpSpPr>
        <p:grpSpPr>
          <a:xfrm>
            <a:off x="9247118" y="4185369"/>
            <a:ext cx="2870269" cy="2288584"/>
            <a:chOff x="8091710" y="4185368"/>
            <a:chExt cx="3955510" cy="1182077"/>
          </a:xfrm>
        </p:grpSpPr>
        <p:sp>
          <p:nvSpPr>
            <p:cNvPr id="14" name="Shape 5">
              <a:extLst>
                <a:ext uri="{FF2B5EF4-FFF2-40B4-BE49-F238E27FC236}">
                  <a16:creationId xmlns:a16="http://schemas.microsoft.com/office/drawing/2014/main" id="{CC621D11-9264-3F7C-C46C-BE6BC0AA0907}"/>
                </a:ext>
              </a:extLst>
            </p:cNvPr>
            <p:cNvSpPr/>
            <p:nvPr/>
          </p:nvSpPr>
          <p:spPr>
            <a:xfrm>
              <a:off x="8091710" y="4185368"/>
              <a:ext cx="3955510" cy="1011352"/>
            </a:xfrm>
            <a:prstGeom prst="roundRect">
              <a:avLst>
                <a:gd name="adj" fmla="val 5106"/>
              </a:avLst>
            </a:prstGeom>
            <a:solidFill>
              <a:srgbClr val="028090"/>
            </a:solidFill>
            <a:ln/>
          </p:spPr>
          <p:txBody>
            <a:bodyPr/>
            <a:lstStyle/>
            <a:p>
              <a:endParaRPr lang="en-US" dirty="0"/>
            </a:p>
          </p:txBody>
        </p:sp>
        <p:sp>
          <p:nvSpPr>
            <p:cNvPr id="16" name="Text 6">
              <a:extLst>
                <a:ext uri="{FF2B5EF4-FFF2-40B4-BE49-F238E27FC236}">
                  <a16:creationId xmlns:a16="http://schemas.microsoft.com/office/drawing/2014/main" id="{74097C64-7867-F31F-1A2A-7B3852982DD8}"/>
                </a:ext>
              </a:extLst>
            </p:cNvPr>
            <p:cNvSpPr/>
            <p:nvPr/>
          </p:nvSpPr>
          <p:spPr>
            <a:xfrm>
              <a:off x="8228871" y="4270165"/>
              <a:ext cx="3794760" cy="1097280"/>
            </a:xfrm>
            <a:prstGeom prst="rect">
              <a:avLst/>
            </a:prstGeom>
            <a:noFill/>
            <a:ln/>
          </p:spPr>
          <p:txBody>
            <a:bodyPr wrap="square" lIns="0" tIns="0" rIns="0" bIns="0" rtlCol="0" anchor="t"/>
            <a:lstStyle/>
            <a:p>
              <a:pPr marL="0" indent="0">
                <a:lnSpc>
                  <a:spcPct val="120000"/>
                </a:lnSpc>
                <a:buNone/>
              </a:pPr>
              <a:r>
                <a:rPr lang="en-US" sz="1300" dirty="0">
                  <a:solidFill>
                    <a:srgbClr val="FFFFFF"/>
                  </a:solidFill>
                  <a:latin typeface="Calibri" pitchFamily="34" charset="0"/>
                  <a:ea typeface="Calibri" pitchFamily="34" charset="-122"/>
                  <a:cs typeface="Calibri" pitchFamily="34" charset="-120"/>
                </a:rPr>
                <a:t>Higher confidence = early readmission happens more often when the pattern appears These rules are ranked by confidence, meaning they show the patterns where early readmission appeared most often when the left-side conditions were present.</a:t>
              </a:r>
              <a:endParaRPr lang="en-US" sz="1300" dirty="0"/>
            </a:p>
          </p:txBody>
        </p:sp>
      </p:grpSp>
      <p:pic>
        <p:nvPicPr>
          <p:cNvPr id="18" name="Picture 17">
            <a:extLst>
              <a:ext uri="{FF2B5EF4-FFF2-40B4-BE49-F238E27FC236}">
                <a16:creationId xmlns:a16="http://schemas.microsoft.com/office/drawing/2014/main" id="{42BF0AA8-CE26-C9DC-6DD5-0AC9BD18B828}"/>
              </a:ext>
            </a:extLst>
          </p:cNvPr>
          <p:cNvPicPr>
            <a:picLocks noChangeAspect="1"/>
          </p:cNvPicPr>
          <p:nvPr/>
        </p:nvPicPr>
        <p:blipFill>
          <a:blip r:embed="rId4"/>
          <a:stretch>
            <a:fillRect/>
          </a:stretch>
        </p:blipFill>
        <p:spPr>
          <a:xfrm>
            <a:off x="209096" y="3708370"/>
            <a:ext cx="8781439" cy="2435047"/>
          </a:xfrm>
          <a:prstGeom prst="rect">
            <a:avLst/>
          </a:prstGeom>
        </p:spPr>
      </p:pic>
    </p:spTree>
    <p:extLst>
      <p:ext uri="{BB962C8B-B14F-4D97-AF65-F5344CB8AC3E}">
        <p14:creationId xmlns:p14="http://schemas.microsoft.com/office/powerpoint/2010/main" val="21354439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640080" y="502920"/>
            <a:ext cx="8229600" cy="640080"/>
          </a:xfrm>
          <a:prstGeom prst="rect">
            <a:avLst/>
          </a:prstGeom>
          <a:noFill/>
          <a:ln/>
        </p:spPr>
        <p:txBody>
          <a:bodyPr wrap="square" lIns="0" tIns="0" rIns="0" bIns="0" rtlCol="0" anchor="ctr"/>
          <a:lstStyle/>
          <a:p>
            <a:pPr marL="0" indent="0">
              <a:buNone/>
            </a:pPr>
            <a:r>
              <a:rPr lang="en-US" sz="3200" b="1" dirty="0">
                <a:solidFill>
                  <a:srgbClr val="0B2545"/>
                </a:solidFill>
                <a:latin typeface="Cambria" pitchFamily="34" charset="0"/>
                <a:ea typeface="Cambria" pitchFamily="34" charset="-122"/>
                <a:cs typeface="Cambria" pitchFamily="34" charset="-120"/>
              </a:rPr>
              <a:t>Best Overall Rules</a:t>
            </a:r>
            <a:endParaRPr lang="en-US" sz="3200" dirty="0"/>
          </a:p>
        </p:txBody>
      </p:sp>
      <p:sp>
        <p:nvSpPr>
          <p:cNvPr id="5" name="Shape 3"/>
          <p:cNvSpPr/>
          <p:nvPr/>
        </p:nvSpPr>
        <p:spPr>
          <a:xfrm>
            <a:off x="658368" y="1965960"/>
            <a:ext cx="3429000" cy="3246120"/>
          </a:xfrm>
          <a:prstGeom prst="roundRect">
            <a:avLst>
              <a:gd name="adj" fmla="val 3944"/>
            </a:avLst>
          </a:prstGeom>
          <a:solidFill>
            <a:srgbClr val="F7FAFA"/>
          </a:solidFill>
          <a:ln/>
          <a:effectLst>
            <a:outerShdw blurRad="101600" dist="38100" dir="5400000" algn="bl" rotWithShape="0">
              <a:srgbClr val="000000">
                <a:alpha val="12000"/>
              </a:srgbClr>
            </a:outerShdw>
          </a:effectLst>
        </p:spPr>
      </p:sp>
      <p:sp>
        <p:nvSpPr>
          <p:cNvPr id="6" name="Shape 4"/>
          <p:cNvSpPr/>
          <p:nvPr/>
        </p:nvSpPr>
        <p:spPr>
          <a:xfrm>
            <a:off x="1915668" y="2286000"/>
            <a:ext cx="914400" cy="914400"/>
          </a:xfrm>
          <a:prstGeom prst="ellipse">
            <a:avLst/>
          </a:prstGeom>
          <a:solidFill>
            <a:srgbClr val="DCEFEF"/>
          </a:solidFill>
          <a:ln/>
        </p:spPr>
      </p:sp>
      <p:pic>
        <p:nvPicPr>
          <p:cNvPr id="7" name="Image 0" descr="assets/FaProcedures_teal.png"/>
          <p:cNvPicPr>
            <a:picLocks noChangeAspect="1"/>
          </p:cNvPicPr>
          <p:nvPr/>
        </p:nvPicPr>
        <p:blipFill>
          <a:blip r:embed="rId3"/>
          <a:stretch>
            <a:fillRect/>
          </a:stretch>
        </p:blipFill>
        <p:spPr>
          <a:xfrm>
            <a:off x="2098548" y="2468880"/>
            <a:ext cx="548640" cy="548640"/>
          </a:xfrm>
          <a:prstGeom prst="rect">
            <a:avLst/>
          </a:prstGeom>
        </p:spPr>
      </p:pic>
      <p:sp>
        <p:nvSpPr>
          <p:cNvPr id="8" name="Text 5"/>
          <p:cNvSpPr/>
          <p:nvPr/>
        </p:nvSpPr>
        <p:spPr>
          <a:xfrm>
            <a:off x="658368" y="3337560"/>
            <a:ext cx="3429000" cy="365760"/>
          </a:xfrm>
          <a:prstGeom prst="rect">
            <a:avLst/>
          </a:prstGeom>
          <a:noFill/>
          <a:ln/>
        </p:spPr>
        <p:txBody>
          <a:bodyPr wrap="square" lIns="0" tIns="0" rIns="0" bIns="0" rtlCol="0" anchor="ctr"/>
          <a:lstStyle/>
          <a:p>
            <a:pPr marL="0" indent="0" algn="ctr">
              <a:buNone/>
            </a:pPr>
            <a:r>
              <a:rPr lang="en-US" sz="1200" b="1" kern="0" spc="150" dirty="0">
                <a:solidFill>
                  <a:srgbClr val="00A896"/>
                </a:solidFill>
                <a:latin typeface="Calibri" pitchFamily="34" charset="0"/>
                <a:ea typeface="Calibri" pitchFamily="34" charset="-122"/>
                <a:cs typeface="Calibri" pitchFamily="34" charset="-120"/>
              </a:rPr>
              <a:t>Rule 1</a:t>
            </a:r>
            <a:endParaRPr lang="en-US" sz="1200" dirty="0"/>
          </a:p>
        </p:txBody>
      </p:sp>
      <p:sp>
        <p:nvSpPr>
          <p:cNvPr id="9" name="Text 6"/>
          <p:cNvSpPr/>
          <p:nvPr/>
        </p:nvSpPr>
        <p:spPr>
          <a:xfrm>
            <a:off x="932688" y="3703320"/>
            <a:ext cx="2880360" cy="1371600"/>
          </a:xfrm>
          <a:prstGeom prst="rect">
            <a:avLst/>
          </a:prstGeom>
          <a:noFill/>
          <a:ln/>
        </p:spPr>
        <p:txBody>
          <a:bodyPr wrap="square" lIns="0" tIns="0" rIns="0" bIns="0" rtlCol="0" anchor="t"/>
          <a:lstStyle/>
          <a:p>
            <a:pPr marL="0" indent="0" algn="ctr">
              <a:lnSpc>
                <a:spcPct val="125000"/>
              </a:lnSpc>
              <a:buNone/>
            </a:pPr>
            <a:r>
              <a:rPr lang="en-US" sz="1450" dirty="0">
                <a:solidFill>
                  <a:srgbClr val="0B2545"/>
                </a:solidFill>
                <a:latin typeface="Calibri" pitchFamily="34" charset="0"/>
                <a:ea typeface="Calibri" pitchFamily="34" charset="-122"/>
                <a:cs typeface="Calibri" pitchFamily="34" charset="-120"/>
              </a:rPr>
              <a:t>Prior inpatient visits → early readmission</a:t>
            </a:r>
            <a:endParaRPr lang="en-US" sz="1450" dirty="0"/>
          </a:p>
        </p:txBody>
      </p:sp>
      <p:sp>
        <p:nvSpPr>
          <p:cNvPr id="10" name="Shape 7"/>
          <p:cNvSpPr/>
          <p:nvPr/>
        </p:nvSpPr>
        <p:spPr>
          <a:xfrm>
            <a:off x="4379976" y="1965960"/>
            <a:ext cx="3429000" cy="3246120"/>
          </a:xfrm>
          <a:prstGeom prst="roundRect">
            <a:avLst>
              <a:gd name="adj" fmla="val 3944"/>
            </a:avLst>
          </a:prstGeom>
          <a:solidFill>
            <a:srgbClr val="028090"/>
          </a:solidFill>
          <a:ln/>
          <a:effectLst>
            <a:outerShdw blurRad="101600" dist="38100" dir="5400000" algn="bl" rotWithShape="0">
              <a:srgbClr val="000000">
                <a:alpha val="12000"/>
              </a:srgbClr>
            </a:outerShdw>
          </a:effectLst>
        </p:spPr>
      </p:sp>
      <p:sp>
        <p:nvSpPr>
          <p:cNvPr id="11" name="Shape 8"/>
          <p:cNvSpPr/>
          <p:nvPr/>
        </p:nvSpPr>
        <p:spPr>
          <a:xfrm>
            <a:off x="5637276" y="2286000"/>
            <a:ext cx="914400" cy="914400"/>
          </a:xfrm>
          <a:prstGeom prst="ellipse">
            <a:avLst/>
          </a:prstGeom>
          <a:solidFill>
            <a:srgbClr val="DCEFEF"/>
          </a:solidFill>
          <a:ln/>
        </p:spPr>
      </p:sp>
      <p:pic>
        <p:nvPicPr>
          <p:cNvPr id="12" name="Image 1" descr="assets/FaFlask_teal.png"/>
          <p:cNvPicPr>
            <a:picLocks noChangeAspect="1"/>
          </p:cNvPicPr>
          <p:nvPr/>
        </p:nvPicPr>
        <p:blipFill>
          <a:blip r:embed="rId4"/>
          <a:stretch>
            <a:fillRect/>
          </a:stretch>
        </p:blipFill>
        <p:spPr>
          <a:xfrm>
            <a:off x="5820156" y="2468880"/>
            <a:ext cx="548640" cy="548640"/>
          </a:xfrm>
          <a:prstGeom prst="rect">
            <a:avLst/>
          </a:prstGeom>
        </p:spPr>
      </p:pic>
      <p:sp>
        <p:nvSpPr>
          <p:cNvPr id="13" name="Text 9"/>
          <p:cNvSpPr/>
          <p:nvPr/>
        </p:nvSpPr>
        <p:spPr>
          <a:xfrm>
            <a:off x="4379976" y="3337560"/>
            <a:ext cx="3429000" cy="365760"/>
          </a:xfrm>
          <a:prstGeom prst="rect">
            <a:avLst/>
          </a:prstGeom>
          <a:noFill/>
          <a:ln/>
        </p:spPr>
        <p:txBody>
          <a:bodyPr wrap="square" lIns="0" tIns="0" rIns="0" bIns="0" rtlCol="0" anchor="ctr"/>
          <a:lstStyle/>
          <a:p>
            <a:pPr marL="0" indent="0" algn="ctr">
              <a:buNone/>
            </a:pPr>
            <a:r>
              <a:rPr lang="en-US" sz="1200" b="1" kern="0" spc="150" dirty="0">
                <a:solidFill>
                  <a:srgbClr val="00A896"/>
                </a:solidFill>
                <a:latin typeface="Calibri" pitchFamily="34" charset="0"/>
                <a:ea typeface="Calibri" pitchFamily="34" charset="-122"/>
                <a:cs typeface="Calibri" pitchFamily="34" charset="-120"/>
              </a:rPr>
              <a:t>Rule 2</a:t>
            </a:r>
            <a:endParaRPr lang="en-US" sz="1200" dirty="0"/>
          </a:p>
        </p:txBody>
      </p:sp>
      <p:sp>
        <p:nvSpPr>
          <p:cNvPr id="14" name="Text 10"/>
          <p:cNvSpPr/>
          <p:nvPr/>
        </p:nvSpPr>
        <p:spPr>
          <a:xfrm>
            <a:off x="4654296" y="3703320"/>
            <a:ext cx="2880360" cy="1371600"/>
          </a:xfrm>
          <a:prstGeom prst="rect">
            <a:avLst/>
          </a:prstGeom>
          <a:noFill/>
          <a:ln/>
        </p:spPr>
        <p:txBody>
          <a:bodyPr wrap="square" lIns="0" tIns="0" rIns="0" bIns="0" rtlCol="0" anchor="t"/>
          <a:lstStyle/>
          <a:p>
            <a:pPr marL="0" indent="0" algn="ctr">
              <a:lnSpc>
                <a:spcPct val="125000"/>
              </a:lnSpc>
              <a:buNone/>
            </a:pPr>
            <a:r>
              <a:rPr lang="en-US" sz="1450" dirty="0">
                <a:solidFill>
                  <a:srgbClr val="EFEFEF"/>
                </a:solidFill>
                <a:latin typeface="Calibri" pitchFamily="34" charset="0"/>
                <a:ea typeface="Calibri" pitchFamily="34" charset="-122"/>
                <a:cs typeface="Calibri" pitchFamily="34" charset="-120"/>
              </a:rPr>
              <a:t>Prior inpatient visits + missing A1C → early readmission</a:t>
            </a:r>
            <a:endParaRPr lang="en-US" sz="1450" dirty="0">
              <a:solidFill>
                <a:srgbClr val="EFEFEF"/>
              </a:solidFill>
            </a:endParaRPr>
          </a:p>
        </p:txBody>
      </p:sp>
      <p:sp>
        <p:nvSpPr>
          <p:cNvPr id="15" name="Shape 11"/>
          <p:cNvSpPr/>
          <p:nvPr/>
        </p:nvSpPr>
        <p:spPr>
          <a:xfrm>
            <a:off x="8101584" y="1965960"/>
            <a:ext cx="3429000" cy="3246120"/>
          </a:xfrm>
          <a:prstGeom prst="roundRect">
            <a:avLst>
              <a:gd name="adj" fmla="val 3944"/>
            </a:avLst>
          </a:prstGeom>
          <a:solidFill>
            <a:srgbClr val="EFEFEF"/>
          </a:solidFill>
          <a:ln/>
          <a:effectLst>
            <a:outerShdw blurRad="101600" dist="38100" dir="5400000" algn="bl" rotWithShape="0">
              <a:srgbClr val="000000">
                <a:alpha val="12000"/>
              </a:srgbClr>
            </a:outerShdw>
          </a:effectLst>
        </p:spPr>
      </p:sp>
      <p:sp>
        <p:nvSpPr>
          <p:cNvPr id="16" name="Shape 12"/>
          <p:cNvSpPr/>
          <p:nvPr/>
        </p:nvSpPr>
        <p:spPr>
          <a:xfrm>
            <a:off x="9358884" y="2286000"/>
            <a:ext cx="914400" cy="914400"/>
          </a:xfrm>
          <a:prstGeom prst="ellipse">
            <a:avLst/>
          </a:prstGeom>
          <a:solidFill>
            <a:srgbClr val="FFFFFF"/>
          </a:solidFill>
          <a:ln/>
        </p:spPr>
      </p:sp>
      <p:pic>
        <p:nvPicPr>
          <p:cNvPr id="17" name="Image 2" descr="assets/FaPills_teal.png"/>
          <p:cNvPicPr>
            <a:picLocks noChangeAspect="1"/>
          </p:cNvPicPr>
          <p:nvPr/>
        </p:nvPicPr>
        <p:blipFill>
          <a:blip r:embed="rId5"/>
          <a:stretch>
            <a:fillRect/>
          </a:stretch>
        </p:blipFill>
        <p:spPr>
          <a:xfrm>
            <a:off x="9541764" y="2468880"/>
            <a:ext cx="548640" cy="548640"/>
          </a:xfrm>
          <a:prstGeom prst="rect">
            <a:avLst/>
          </a:prstGeom>
        </p:spPr>
      </p:pic>
      <p:sp>
        <p:nvSpPr>
          <p:cNvPr id="18" name="Text 13"/>
          <p:cNvSpPr/>
          <p:nvPr/>
        </p:nvSpPr>
        <p:spPr>
          <a:xfrm>
            <a:off x="8101584" y="3337560"/>
            <a:ext cx="3429000" cy="365760"/>
          </a:xfrm>
          <a:prstGeom prst="rect">
            <a:avLst/>
          </a:prstGeom>
          <a:noFill/>
          <a:ln/>
        </p:spPr>
        <p:txBody>
          <a:bodyPr wrap="square" lIns="0" tIns="0" rIns="0" bIns="0" rtlCol="0" anchor="ctr"/>
          <a:lstStyle/>
          <a:p>
            <a:pPr marL="0" indent="0" algn="ctr">
              <a:buNone/>
            </a:pPr>
            <a:r>
              <a:rPr lang="en-US" sz="1200" b="1" kern="0" spc="150" dirty="0">
                <a:solidFill>
                  <a:srgbClr val="02C39A"/>
                </a:solidFill>
                <a:latin typeface="Calibri" pitchFamily="34" charset="0"/>
                <a:ea typeface="Calibri" pitchFamily="34" charset="-122"/>
                <a:cs typeface="Calibri" pitchFamily="34" charset="-120"/>
              </a:rPr>
              <a:t>Rule 3</a:t>
            </a:r>
            <a:endParaRPr lang="en-US" sz="1200" dirty="0"/>
          </a:p>
        </p:txBody>
      </p:sp>
      <p:sp>
        <p:nvSpPr>
          <p:cNvPr id="19" name="Text 14"/>
          <p:cNvSpPr/>
          <p:nvPr/>
        </p:nvSpPr>
        <p:spPr>
          <a:xfrm>
            <a:off x="8375904" y="3703320"/>
            <a:ext cx="2880360" cy="1371600"/>
          </a:xfrm>
          <a:prstGeom prst="rect">
            <a:avLst/>
          </a:prstGeom>
          <a:noFill/>
          <a:ln/>
        </p:spPr>
        <p:txBody>
          <a:bodyPr wrap="square" lIns="0" tIns="0" rIns="0" bIns="0" rtlCol="0" anchor="t"/>
          <a:lstStyle/>
          <a:p>
            <a:pPr marL="0" indent="0" algn="ctr">
              <a:lnSpc>
                <a:spcPct val="125000"/>
              </a:lnSpc>
              <a:buNone/>
            </a:pPr>
            <a:r>
              <a:rPr lang="en-US" sz="1450" dirty="0">
                <a:solidFill>
                  <a:srgbClr val="0B2545"/>
                </a:solidFill>
                <a:latin typeface="Calibri" pitchFamily="34" charset="0"/>
                <a:ea typeface="Calibri" pitchFamily="34" charset="-122"/>
                <a:cs typeface="Calibri" pitchFamily="34" charset="-120"/>
              </a:rPr>
              <a:t>Prior inpatient visits + missing A1C + diabetes medication → early readmission</a:t>
            </a:r>
            <a:endParaRPr lang="en-US" sz="1450" dirty="0">
              <a:solidFill>
                <a:srgbClr val="0B2545"/>
              </a:solidFill>
            </a:endParaRPr>
          </a:p>
        </p:txBody>
      </p:sp>
      <p:pic>
        <p:nvPicPr>
          <p:cNvPr id="21" name="Image 1" descr="assets/ribbon_real_cropped.png">
            <a:extLst>
              <a:ext uri="{FF2B5EF4-FFF2-40B4-BE49-F238E27FC236}">
                <a16:creationId xmlns:a16="http://schemas.microsoft.com/office/drawing/2014/main" id="{46075294-6C4F-4A26-75A6-BD63BC42AB36}"/>
              </a:ext>
            </a:extLst>
          </p:cNvPr>
          <p:cNvPicPr>
            <a:picLocks noChangeAspect="1"/>
          </p:cNvPicPr>
          <p:nvPr/>
        </p:nvPicPr>
        <p:blipFill>
          <a:blip r:embed="rId6">
            <a:alphaModFix amt="28000"/>
          </a:blip>
          <a:stretch>
            <a:fillRect/>
          </a:stretch>
        </p:blipFill>
        <p:spPr>
          <a:xfrm rot="-360000">
            <a:off x="137890" y="5574141"/>
            <a:ext cx="731520" cy="1249048"/>
          </a:xfrm>
          <a:prstGeom prst="rect">
            <a:avLst/>
          </a:prstGeom>
        </p:spPr>
      </p:pic>
      <p:pic>
        <p:nvPicPr>
          <p:cNvPr id="23" name="Image 1" descr="assets/ribbon_real_cropped.png">
            <a:extLst>
              <a:ext uri="{FF2B5EF4-FFF2-40B4-BE49-F238E27FC236}">
                <a16:creationId xmlns:a16="http://schemas.microsoft.com/office/drawing/2014/main" id="{BCDA133F-90A7-8D84-06B1-372DDD398CBB}"/>
              </a:ext>
            </a:extLst>
          </p:cNvPr>
          <p:cNvPicPr>
            <a:picLocks noChangeAspect="1"/>
          </p:cNvPicPr>
          <p:nvPr/>
        </p:nvPicPr>
        <p:blipFill>
          <a:blip r:embed="rId6">
            <a:alphaModFix amt="28000"/>
          </a:blip>
          <a:stretch>
            <a:fillRect/>
          </a:stretch>
        </p:blipFill>
        <p:spPr>
          <a:xfrm rot="-360000">
            <a:off x="11365991" y="9048"/>
            <a:ext cx="731520" cy="1249048"/>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rgbClr val="0B2545"/>
        </a:solidFill>
        <a:effectLst/>
      </p:bgPr>
    </p:bg>
    <p:spTree>
      <p:nvGrpSpPr>
        <p:cNvPr id="1" name=""/>
        <p:cNvGrpSpPr/>
        <p:nvPr/>
      </p:nvGrpSpPr>
      <p:grpSpPr>
        <a:xfrm>
          <a:off x="0" y="0"/>
          <a:ext cx="0" cy="0"/>
          <a:chOff x="0" y="0"/>
          <a:chExt cx="0" cy="0"/>
        </a:xfrm>
      </p:grpSpPr>
      <p:pic>
        <p:nvPicPr>
          <p:cNvPr id="2" name="Image 0" descr="assets/ribbon_real_cropped.png"/>
          <p:cNvPicPr>
            <a:picLocks noChangeAspect="1"/>
          </p:cNvPicPr>
          <p:nvPr/>
        </p:nvPicPr>
        <p:blipFill>
          <a:blip r:embed="rId3">
            <a:alphaModFix amt="24000"/>
          </a:blip>
          <a:stretch>
            <a:fillRect/>
          </a:stretch>
        </p:blipFill>
        <p:spPr>
          <a:xfrm rot="480000">
            <a:off x="11343132" y="134018"/>
            <a:ext cx="777240" cy="1327114"/>
          </a:xfrm>
          <a:prstGeom prst="rect">
            <a:avLst/>
          </a:prstGeom>
        </p:spPr>
      </p:pic>
      <p:sp>
        <p:nvSpPr>
          <p:cNvPr id="3" name="Text 0"/>
          <p:cNvSpPr/>
          <p:nvPr/>
        </p:nvSpPr>
        <p:spPr>
          <a:xfrm>
            <a:off x="822960" y="640080"/>
            <a:ext cx="9144000" cy="73152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Practical Healthcare Value</a:t>
            </a:r>
            <a:endParaRPr lang="en-US" sz="3200" dirty="0"/>
          </a:p>
        </p:txBody>
      </p:sp>
      <p:sp>
        <p:nvSpPr>
          <p:cNvPr id="4" name="Text 1"/>
          <p:cNvSpPr/>
          <p:nvPr/>
        </p:nvSpPr>
        <p:spPr>
          <a:xfrm>
            <a:off x="822960" y="1280160"/>
            <a:ext cx="9144000" cy="457200"/>
          </a:xfrm>
          <a:prstGeom prst="rect">
            <a:avLst/>
          </a:prstGeom>
          <a:noFill/>
          <a:ln/>
        </p:spPr>
        <p:txBody>
          <a:bodyPr wrap="square" lIns="0" tIns="0" rIns="0" bIns="0" rtlCol="0" anchor="ctr"/>
          <a:lstStyle/>
          <a:p>
            <a:pPr marL="0" indent="0">
              <a:buNone/>
            </a:pPr>
            <a:r>
              <a:rPr lang="en-US" sz="1500" i="1" dirty="0">
                <a:solidFill>
                  <a:srgbClr val="9FC4C7"/>
                </a:solidFill>
                <a:latin typeface="Calibri" pitchFamily="34" charset="0"/>
                <a:ea typeface="Calibri" pitchFamily="34" charset="-122"/>
                <a:cs typeface="Calibri" pitchFamily="34" charset="-120"/>
              </a:rPr>
              <a:t>Where the statistics become decision-support</a:t>
            </a:r>
            <a:endParaRPr lang="en-US" sz="1500" dirty="0"/>
          </a:p>
        </p:txBody>
      </p:sp>
      <p:sp>
        <p:nvSpPr>
          <p:cNvPr id="5" name="Shape 2"/>
          <p:cNvSpPr/>
          <p:nvPr/>
        </p:nvSpPr>
        <p:spPr>
          <a:xfrm>
            <a:off x="836676" y="2240280"/>
            <a:ext cx="3291840" cy="1371600"/>
          </a:xfrm>
          <a:prstGeom prst="roundRect">
            <a:avLst>
              <a:gd name="adj" fmla="val 8000"/>
            </a:avLst>
          </a:prstGeom>
          <a:solidFill>
            <a:srgbClr val="13315C"/>
          </a:solidFill>
          <a:ln/>
        </p:spPr>
      </p:sp>
      <p:pic>
        <p:nvPicPr>
          <p:cNvPr id="6" name="Image 1" descr="assets/FaUserClock_mint.png"/>
          <p:cNvPicPr>
            <a:picLocks noChangeAspect="1"/>
          </p:cNvPicPr>
          <p:nvPr/>
        </p:nvPicPr>
        <p:blipFill>
          <a:blip r:embed="rId4"/>
          <a:stretch>
            <a:fillRect/>
          </a:stretch>
        </p:blipFill>
        <p:spPr>
          <a:xfrm>
            <a:off x="1110996" y="2606040"/>
            <a:ext cx="640080" cy="640080"/>
          </a:xfrm>
          <a:prstGeom prst="rect">
            <a:avLst/>
          </a:prstGeom>
        </p:spPr>
      </p:pic>
      <p:sp>
        <p:nvSpPr>
          <p:cNvPr id="7" name="Text 3"/>
          <p:cNvSpPr/>
          <p:nvPr/>
        </p:nvSpPr>
        <p:spPr>
          <a:xfrm>
            <a:off x="1888236" y="2240280"/>
            <a:ext cx="2057400" cy="1371600"/>
          </a:xfrm>
          <a:prstGeom prst="rect">
            <a:avLst/>
          </a:prstGeom>
          <a:noFill/>
          <a:ln/>
        </p:spPr>
        <p:txBody>
          <a:bodyPr wrap="square" lIns="0" tIns="0" rIns="0" bIns="0" rtlCol="0" anchor="ctr"/>
          <a:lstStyle/>
          <a:p>
            <a:pPr marL="0" indent="0">
              <a:buNone/>
            </a:pPr>
            <a:r>
              <a:rPr lang="en-US" sz="1450" dirty="0">
                <a:solidFill>
                  <a:srgbClr val="FFFFFF"/>
                </a:solidFill>
                <a:latin typeface="Calibri" pitchFamily="34" charset="0"/>
                <a:ea typeface="Calibri" pitchFamily="34" charset="-122"/>
                <a:cs typeface="Calibri" pitchFamily="34" charset="-120"/>
              </a:rPr>
              <a:t>Flag patients for follow-up</a:t>
            </a:r>
            <a:endParaRPr lang="en-US" sz="1450" dirty="0"/>
          </a:p>
        </p:txBody>
      </p:sp>
      <p:sp>
        <p:nvSpPr>
          <p:cNvPr id="8" name="Shape 4"/>
          <p:cNvSpPr/>
          <p:nvPr/>
        </p:nvSpPr>
        <p:spPr>
          <a:xfrm>
            <a:off x="4448556" y="2240280"/>
            <a:ext cx="3291840" cy="1371600"/>
          </a:xfrm>
          <a:prstGeom prst="roundRect">
            <a:avLst>
              <a:gd name="adj" fmla="val 8000"/>
            </a:avLst>
          </a:prstGeom>
          <a:solidFill>
            <a:srgbClr val="13315C"/>
          </a:solidFill>
          <a:ln/>
        </p:spPr>
      </p:sp>
      <p:pic>
        <p:nvPicPr>
          <p:cNvPr id="9" name="Image 2" descr="assets/FaClipboardList_mint.png"/>
          <p:cNvPicPr>
            <a:picLocks noChangeAspect="1"/>
          </p:cNvPicPr>
          <p:nvPr/>
        </p:nvPicPr>
        <p:blipFill>
          <a:blip r:embed="rId5"/>
          <a:stretch>
            <a:fillRect/>
          </a:stretch>
        </p:blipFill>
        <p:spPr>
          <a:xfrm>
            <a:off x="4722876" y="2606040"/>
            <a:ext cx="640080" cy="640080"/>
          </a:xfrm>
          <a:prstGeom prst="rect">
            <a:avLst/>
          </a:prstGeom>
        </p:spPr>
      </p:pic>
      <p:sp>
        <p:nvSpPr>
          <p:cNvPr id="10" name="Text 5"/>
          <p:cNvSpPr/>
          <p:nvPr/>
        </p:nvSpPr>
        <p:spPr>
          <a:xfrm>
            <a:off x="5500116" y="2240280"/>
            <a:ext cx="2057400" cy="1371600"/>
          </a:xfrm>
          <a:prstGeom prst="rect">
            <a:avLst/>
          </a:prstGeom>
          <a:noFill/>
          <a:ln/>
        </p:spPr>
        <p:txBody>
          <a:bodyPr wrap="square" lIns="0" tIns="0" rIns="0" bIns="0" rtlCol="0" anchor="ctr"/>
          <a:lstStyle/>
          <a:p>
            <a:pPr marL="0" indent="0">
              <a:buNone/>
            </a:pPr>
            <a:r>
              <a:rPr lang="en-US" sz="1450" dirty="0">
                <a:solidFill>
                  <a:srgbClr val="FFFFFF"/>
                </a:solidFill>
                <a:latin typeface="Calibri" pitchFamily="34" charset="0"/>
                <a:ea typeface="Calibri" pitchFamily="34" charset="-122"/>
                <a:cs typeface="Calibri" pitchFamily="34" charset="-120"/>
              </a:rPr>
              <a:t>Support discharge planning</a:t>
            </a:r>
            <a:endParaRPr lang="en-US" sz="1450" dirty="0"/>
          </a:p>
        </p:txBody>
      </p:sp>
      <p:sp>
        <p:nvSpPr>
          <p:cNvPr id="11" name="Shape 6"/>
          <p:cNvSpPr/>
          <p:nvPr/>
        </p:nvSpPr>
        <p:spPr>
          <a:xfrm>
            <a:off x="8060436" y="2240280"/>
            <a:ext cx="3291840" cy="1371600"/>
          </a:xfrm>
          <a:prstGeom prst="roundRect">
            <a:avLst>
              <a:gd name="adj" fmla="val 8000"/>
            </a:avLst>
          </a:prstGeom>
          <a:solidFill>
            <a:srgbClr val="13315C"/>
          </a:solidFill>
          <a:ln/>
        </p:spPr>
      </p:sp>
      <p:pic>
        <p:nvPicPr>
          <p:cNvPr id="12" name="Image 3" descr="assets/FaPills_mint.png"/>
          <p:cNvPicPr>
            <a:picLocks noChangeAspect="1"/>
          </p:cNvPicPr>
          <p:nvPr/>
        </p:nvPicPr>
        <p:blipFill>
          <a:blip r:embed="rId6"/>
          <a:stretch>
            <a:fillRect/>
          </a:stretch>
        </p:blipFill>
        <p:spPr>
          <a:xfrm>
            <a:off x="8334756" y="2606040"/>
            <a:ext cx="640080" cy="640080"/>
          </a:xfrm>
          <a:prstGeom prst="rect">
            <a:avLst/>
          </a:prstGeom>
        </p:spPr>
      </p:pic>
      <p:sp>
        <p:nvSpPr>
          <p:cNvPr id="13" name="Text 7"/>
          <p:cNvSpPr/>
          <p:nvPr/>
        </p:nvSpPr>
        <p:spPr>
          <a:xfrm>
            <a:off x="9111996" y="2240280"/>
            <a:ext cx="2057400" cy="1371600"/>
          </a:xfrm>
          <a:prstGeom prst="rect">
            <a:avLst/>
          </a:prstGeom>
          <a:noFill/>
          <a:ln/>
        </p:spPr>
        <p:txBody>
          <a:bodyPr wrap="square" lIns="0" tIns="0" rIns="0" bIns="0" rtlCol="0" anchor="ctr"/>
          <a:lstStyle/>
          <a:p>
            <a:pPr marL="0" indent="0">
              <a:buNone/>
            </a:pPr>
            <a:r>
              <a:rPr lang="en-US" sz="1450" dirty="0">
                <a:solidFill>
                  <a:srgbClr val="FFFFFF"/>
                </a:solidFill>
                <a:latin typeface="Calibri" pitchFamily="34" charset="0"/>
                <a:ea typeface="Calibri" pitchFamily="34" charset="-122"/>
                <a:cs typeface="Calibri" pitchFamily="34" charset="-120"/>
              </a:rPr>
              <a:t>Encourage medication review</a:t>
            </a:r>
            <a:endParaRPr lang="en-US" sz="1450" dirty="0"/>
          </a:p>
        </p:txBody>
      </p:sp>
      <p:sp>
        <p:nvSpPr>
          <p:cNvPr id="14" name="Shape 8"/>
          <p:cNvSpPr/>
          <p:nvPr/>
        </p:nvSpPr>
        <p:spPr>
          <a:xfrm>
            <a:off x="2642616" y="3977640"/>
            <a:ext cx="3291840" cy="1371600"/>
          </a:xfrm>
          <a:prstGeom prst="roundRect">
            <a:avLst>
              <a:gd name="adj" fmla="val 8000"/>
            </a:avLst>
          </a:prstGeom>
          <a:solidFill>
            <a:srgbClr val="13315C"/>
          </a:solidFill>
          <a:ln/>
        </p:spPr>
      </p:sp>
      <p:pic>
        <p:nvPicPr>
          <p:cNvPr id="15" name="Image 4" descr="assets/FaTint_mint.png"/>
          <p:cNvPicPr>
            <a:picLocks noChangeAspect="1"/>
          </p:cNvPicPr>
          <p:nvPr/>
        </p:nvPicPr>
        <p:blipFill>
          <a:blip r:embed="rId7"/>
          <a:stretch>
            <a:fillRect/>
          </a:stretch>
        </p:blipFill>
        <p:spPr>
          <a:xfrm>
            <a:off x="2916936" y="4343400"/>
            <a:ext cx="640080" cy="640080"/>
          </a:xfrm>
          <a:prstGeom prst="rect">
            <a:avLst/>
          </a:prstGeom>
        </p:spPr>
      </p:pic>
      <p:sp>
        <p:nvSpPr>
          <p:cNvPr id="16" name="Text 9"/>
          <p:cNvSpPr/>
          <p:nvPr/>
        </p:nvSpPr>
        <p:spPr>
          <a:xfrm>
            <a:off x="3694176" y="3977640"/>
            <a:ext cx="2057400" cy="1371600"/>
          </a:xfrm>
          <a:prstGeom prst="rect">
            <a:avLst/>
          </a:prstGeom>
          <a:noFill/>
          <a:ln/>
        </p:spPr>
        <p:txBody>
          <a:bodyPr wrap="square" lIns="0" tIns="0" rIns="0" bIns="0" rtlCol="0" anchor="ctr"/>
          <a:lstStyle/>
          <a:p>
            <a:pPr marL="0" indent="0">
              <a:buNone/>
            </a:pPr>
            <a:r>
              <a:rPr lang="en-US" sz="1450" dirty="0">
                <a:solidFill>
                  <a:srgbClr val="FFFFFF"/>
                </a:solidFill>
                <a:latin typeface="Calibri" pitchFamily="34" charset="0"/>
                <a:ea typeface="Calibri" pitchFamily="34" charset="-122"/>
                <a:cs typeface="Calibri" pitchFamily="34" charset="-120"/>
              </a:rPr>
              <a:t>Improve diabetes monitoring</a:t>
            </a:r>
            <a:endParaRPr lang="en-US" sz="1450" dirty="0"/>
          </a:p>
        </p:txBody>
      </p:sp>
      <p:sp>
        <p:nvSpPr>
          <p:cNvPr id="17" name="Shape 10"/>
          <p:cNvSpPr/>
          <p:nvPr/>
        </p:nvSpPr>
        <p:spPr>
          <a:xfrm>
            <a:off x="6254496" y="3977640"/>
            <a:ext cx="3291840" cy="1371600"/>
          </a:xfrm>
          <a:prstGeom prst="roundRect">
            <a:avLst>
              <a:gd name="adj" fmla="val 8000"/>
            </a:avLst>
          </a:prstGeom>
          <a:solidFill>
            <a:srgbClr val="13315C"/>
          </a:solidFill>
          <a:ln/>
        </p:spPr>
      </p:sp>
      <p:pic>
        <p:nvPicPr>
          <p:cNvPr id="18" name="Image 5" descr="assets/FaSitemap_mint.png"/>
          <p:cNvPicPr>
            <a:picLocks noChangeAspect="1"/>
          </p:cNvPicPr>
          <p:nvPr/>
        </p:nvPicPr>
        <p:blipFill>
          <a:blip r:embed="rId8"/>
          <a:stretch>
            <a:fillRect/>
          </a:stretch>
        </p:blipFill>
        <p:spPr>
          <a:xfrm>
            <a:off x="6528816" y="4343400"/>
            <a:ext cx="640080" cy="640080"/>
          </a:xfrm>
          <a:prstGeom prst="rect">
            <a:avLst/>
          </a:prstGeom>
        </p:spPr>
      </p:pic>
      <p:sp>
        <p:nvSpPr>
          <p:cNvPr id="19" name="Text 11"/>
          <p:cNvSpPr/>
          <p:nvPr/>
        </p:nvSpPr>
        <p:spPr>
          <a:xfrm>
            <a:off x="7306056" y="3977640"/>
            <a:ext cx="2057400" cy="1371600"/>
          </a:xfrm>
          <a:prstGeom prst="rect">
            <a:avLst/>
          </a:prstGeom>
          <a:noFill/>
          <a:ln/>
        </p:spPr>
        <p:txBody>
          <a:bodyPr wrap="square" lIns="0" tIns="0" rIns="0" bIns="0" rtlCol="0" anchor="ctr"/>
          <a:lstStyle/>
          <a:p>
            <a:pPr marL="0" indent="0">
              <a:buNone/>
            </a:pPr>
            <a:r>
              <a:rPr lang="en-US" sz="1450" dirty="0">
                <a:solidFill>
                  <a:srgbClr val="FFFFFF"/>
                </a:solidFill>
                <a:latin typeface="Calibri" pitchFamily="34" charset="0"/>
                <a:ea typeface="Calibri" pitchFamily="34" charset="-122"/>
                <a:cs typeface="Calibri" pitchFamily="34" charset="-120"/>
              </a:rPr>
              <a:t>Guide care coordination</a:t>
            </a:r>
            <a:endParaRPr lang="en-US" sz="1450" dirty="0"/>
          </a:p>
        </p:txBody>
      </p:sp>
      <p:pic>
        <p:nvPicPr>
          <p:cNvPr id="23" name="Image 1" descr="assets/ribbon_real_cropped.png">
            <a:extLst>
              <a:ext uri="{FF2B5EF4-FFF2-40B4-BE49-F238E27FC236}">
                <a16:creationId xmlns:a16="http://schemas.microsoft.com/office/drawing/2014/main" id="{DF3B4428-A41E-8781-9DD7-F8B62BB461FD}"/>
              </a:ext>
            </a:extLst>
          </p:cNvPr>
          <p:cNvPicPr>
            <a:picLocks noChangeAspect="1"/>
          </p:cNvPicPr>
          <p:nvPr/>
        </p:nvPicPr>
        <p:blipFill>
          <a:blip r:embed="rId3">
            <a:alphaModFix amt="28000"/>
          </a:blip>
          <a:stretch>
            <a:fillRect/>
          </a:stretch>
        </p:blipFill>
        <p:spPr>
          <a:xfrm rot="-360000">
            <a:off x="137890" y="5574141"/>
            <a:ext cx="731520" cy="1249048"/>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640080" y="502920"/>
            <a:ext cx="7315200" cy="640080"/>
          </a:xfrm>
          <a:prstGeom prst="rect">
            <a:avLst/>
          </a:prstGeom>
          <a:noFill/>
          <a:ln/>
        </p:spPr>
        <p:txBody>
          <a:bodyPr wrap="square" lIns="0" tIns="0" rIns="0" bIns="0" rtlCol="0" anchor="ctr"/>
          <a:lstStyle/>
          <a:p>
            <a:pPr marL="0" indent="0">
              <a:buNone/>
            </a:pPr>
            <a:r>
              <a:rPr lang="en-US" sz="3200" b="1" dirty="0">
                <a:solidFill>
                  <a:srgbClr val="0B2545"/>
                </a:solidFill>
                <a:latin typeface="Cambria" pitchFamily="34" charset="0"/>
                <a:ea typeface="Cambria" pitchFamily="34" charset="-122"/>
                <a:cs typeface="Cambria" pitchFamily="34" charset="-120"/>
              </a:rPr>
              <a:t>Limitations</a:t>
            </a:r>
            <a:endParaRPr lang="en-US" sz="3200" dirty="0"/>
          </a:p>
        </p:txBody>
      </p:sp>
      <p:sp>
        <p:nvSpPr>
          <p:cNvPr id="5" name="Shape 3"/>
          <p:cNvSpPr/>
          <p:nvPr/>
        </p:nvSpPr>
        <p:spPr>
          <a:xfrm>
            <a:off x="598932" y="2377440"/>
            <a:ext cx="2542032" cy="2286000"/>
          </a:xfrm>
          <a:prstGeom prst="roundRect">
            <a:avLst>
              <a:gd name="adj" fmla="val 4800"/>
            </a:avLst>
          </a:prstGeom>
          <a:solidFill>
            <a:srgbClr val="F7FAFA"/>
          </a:solidFill>
          <a:ln/>
          <a:effectLst>
            <a:outerShdw blurRad="76200" dist="25400" dir="5400000" algn="bl" rotWithShape="0">
              <a:srgbClr val="000000">
                <a:alpha val="8000"/>
              </a:srgbClr>
            </a:outerShdw>
          </a:effectLst>
        </p:spPr>
      </p:sp>
      <p:sp>
        <p:nvSpPr>
          <p:cNvPr id="6" name="Shape 4"/>
          <p:cNvSpPr/>
          <p:nvPr/>
        </p:nvSpPr>
        <p:spPr>
          <a:xfrm>
            <a:off x="1458468" y="2697480"/>
            <a:ext cx="822960" cy="822960"/>
          </a:xfrm>
          <a:prstGeom prst="ellipse">
            <a:avLst/>
          </a:prstGeom>
          <a:solidFill>
            <a:srgbClr val="DCEFEF"/>
          </a:solidFill>
          <a:ln/>
        </p:spPr>
      </p:sp>
      <p:pic>
        <p:nvPicPr>
          <p:cNvPr id="7" name="Image 0" descr="assets/FaBalanceScale_teal.png"/>
          <p:cNvPicPr>
            <a:picLocks noChangeAspect="1"/>
          </p:cNvPicPr>
          <p:nvPr/>
        </p:nvPicPr>
        <p:blipFill>
          <a:blip r:embed="rId3"/>
          <a:stretch>
            <a:fillRect/>
          </a:stretch>
        </p:blipFill>
        <p:spPr>
          <a:xfrm>
            <a:off x="1672438" y="2911450"/>
            <a:ext cx="395021" cy="395021"/>
          </a:xfrm>
          <a:prstGeom prst="rect">
            <a:avLst/>
          </a:prstGeom>
        </p:spPr>
      </p:pic>
      <p:sp>
        <p:nvSpPr>
          <p:cNvPr id="8" name="Text 5"/>
          <p:cNvSpPr/>
          <p:nvPr/>
        </p:nvSpPr>
        <p:spPr>
          <a:xfrm>
            <a:off x="736092" y="3703320"/>
            <a:ext cx="2267712" cy="822960"/>
          </a:xfrm>
          <a:prstGeom prst="rect">
            <a:avLst/>
          </a:prstGeom>
          <a:noFill/>
          <a:ln/>
        </p:spPr>
        <p:txBody>
          <a:bodyPr wrap="square" lIns="0" tIns="0" rIns="0" bIns="0" rtlCol="0" anchor="t"/>
          <a:lstStyle/>
          <a:p>
            <a:pPr marL="0" indent="0" algn="ctr">
              <a:buNone/>
            </a:pPr>
            <a:r>
              <a:rPr lang="en-US" sz="1350" b="1" dirty="0">
                <a:solidFill>
                  <a:srgbClr val="0B2545"/>
                </a:solidFill>
                <a:latin typeface="Calibri" pitchFamily="34" charset="0"/>
                <a:ea typeface="Calibri" pitchFamily="34" charset="-122"/>
                <a:cs typeface="Calibri" pitchFamily="34" charset="-120"/>
              </a:rPr>
              <a:t>Association, not causation</a:t>
            </a:r>
            <a:endParaRPr lang="en-US" sz="1350" dirty="0"/>
          </a:p>
        </p:txBody>
      </p:sp>
      <p:sp>
        <p:nvSpPr>
          <p:cNvPr id="9" name="Shape 6"/>
          <p:cNvSpPr/>
          <p:nvPr/>
        </p:nvSpPr>
        <p:spPr>
          <a:xfrm>
            <a:off x="3415284" y="2377440"/>
            <a:ext cx="2542032" cy="2286000"/>
          </a:xfrm>
          <a:prstGeom prst="roundRect">
            <a:avLst>
              <a:gd name="adj" fmla="val 4800"/>
            </a:avLst>
          </a:prstGeom>
          <a:solidFill>
            <a:srgbClr val="F7FAFA"/>
          </a:solidFill>
          <a:ln/>
          <a:effectLst>
            <a:outerShdw blurRad="76200" dist="25400" dir="5400000" algn="bl" rotWithShape="0">
              <a:srgbClr val="000000">
                <a:alpha val="8000"/>
              </a:srgbClr>
            </a:outerShdw>
          </a:effectLst>
        </p:spPr>
      </p:sp>
      <p:sp>
        <p:nvSpPr>
          <p:cNvPr id="10" name="Shape 7"/>
          <p:cNvSpPr/>
          <p:nvPr/>
        </p:nvSpPr>
        <p:spPr>
          <a:xfrm>
            <a:off x="4274820" y="2697480"/>
            <a:ext cx="822960" cy="822960"/>
          </a:xfrm>
          <a:prstGeom prst="ellipse">
            <a:avLst/>
          </a:prstGeom>
          <a:solidFill>
            <a:srgbClr val="DCEFEF"/>
          </a:solidFill>
          <a:ln/>
        </p:spPr>
      </p:sp>
      <p:pic>
        <p:nvPicPr>
          <p:cNvPr id="11" name="Image 1" descr="assets/FaClipboardList_teal.png"/>
          <p:cNvPicPr>
            <a:picLocks noChangeAspect="1"/>
          </p:cNvPicPr>
          <p:nvPr/>
        </p:nvPicPr>
        <p:blipFill>
          <a:blip r:embed="rId4"/>
          <a:stretch>
            <a:fillRect/>
          </a:stretch>
        </p:blipFill>
        <p:spPr>
          <a:xfrm>
            <a:off x="4488790" y="2911450"/>
            <a:ext cx="395021" cy="395021"/>
          </a:xfrm>
          <a:prstGeom prst="rect">
            <a:avLst/>
          </a:prstGeom>
        </p:spPr>
      </p:pic>
      <p:sp>
        <p:nvSpPr>
          <p:cNvPr id="12" name="Text 8"/>
          <p:cNvSpPr/>
          <p:nvPr/>
        </p:nvSpPr>
        <p:spPr>
          <a:xfrm>
            <a:off x="3552444" y="3703320"/>
            <a:ext cx="2267712" cy="822960"/>
          </a:xfrm>
          <a:prstGeom prst="rect">
            <a:avLst/>
          </a:prstGeom>
          <a:noFill/>
          <a:ln/>
        </p:spPr>
        <p:txBody>
          <a:bodyPr wrap="square" lIns="0" tIns="0" rIns="0" bIns="0" rtlCol="0" anchor="t"/>
          <a:lstStyle/>
          <a:p>
            <a:pPr marL="0" indent="0" algn="ctr">
              <a:buNone/>
            </a:pPr>
            <a:r>
              <a:rPr lang="en-US" sz="1350" b="1" dirty="0">
                <a:solidFill>
                  <a:srgbClr val="0B2545"/>
                </a:solidFill>
                <a:latin typeface="Calibri" pitchFamily="34" charset="0"/>
                <a:ea typeface="Calibri" pitchFamily="34" charset="-122"/>
                <a:cs typeface="Calibri" pitchFamily="34" charset="-120"/>
              </a:rPr>
              <a:t>Historical dataset</a:t>
            </a:r>
            <a:endParaRPr lang="en-US" sz="1350" dirty="0"/>
          </a:p>
        </p:txBody>
      </p:sp>
      <p:sp>
        <p:nvSpPr>
          <p:cNvPr id="13" name="Shape 9"/>
          <p:cNvSpPr/>
          <p:nvPr/>
        </p:nvSpPr>
        <p:spPr>
          <a:xfrm>
            <a:off x="6231636" y="2377440"/>
            <a:ext cx="2542032" cy="2286000"/>
          </a:xfrm>
          <a:prstGeom prst="roundRect">
            <a:avLst>
              <a:gd name="adj" fmla="val 4800"/>
            </a:avLst>
          </a:prstGeom>
          <a:solidFill>
            <a:srgbClr val="F7FAFA"/>
          </a:solidFill>
          <a:ln/>
          <a:effectLst>
            <a:outerShdw blurRad="76200" dist="25400" dir="5400000" algn="bl" rotWithShape="0">
              <a:srgbClr val="000000">
                <a:alpha val="8000"/>
              </a:srgbClr>
            </a:outerShdw>
          </a:effectLst>
        </p:spPr>
      </p:sp>
      <p:sp>
        <p:nvSpPr>
          <p:cNvPr id="14" name="Shape 10"/>
          <p:cNvSpPr/>
          <p:nvPr/>
        </p:nvSpPr>
        <p:spPr>
          <a:xfrm>
            <a:off x="7091172" y="2697480"/>
            <a:ext cx="822960" cy="822960"/>
          </a:xfrm>
          <a:prstGeom prst="ellipse">
            <a:avLst/>
          </a:prstGeom>
          <a:solidFill>
            <a:srgbClr val="DCEFEF"/>
          </a:solidFill>
          <a:ln/>
        </p:spPr>
      </p:sp>
      <p:pic>
        <p:nvPicPr>
          <p:cNvPr id="15" name="Image 2" descr="assets/FaExclamationTriangle_teal.png"/>
          <p:cNvPicPr>
            <a:picLocks noChangeAspect="1"/>
          </p:cNvPicPr>
          <p:nvPr/>
        </p:nvPicPr>
        <p:blipFill>
          <a:blip r:embed="rId5"/>
          <a:stretch>
            <a:fillRect/>
          </a:stretch>
        </p:blipFill>
        <p:spPr>
          <a:xfrm>
            <a:off x="7305142" y="2911450"/>
            <a:ext cx="395021" cy="395021"/>
          </a:xfrm>
          <a:prstGeom prst="rect">
            <a:avLst/>
          </a:prstGeom>
        </p:spPr>
      </p:pic>
      <p:sp>
        <p:nvSpPr>
          <p:cNvPr id="16" name="Text 11"/>
          <p:cNvSpPr/>
          <p:nvPr/>
        </p:nvSpPr>
        <p:spPr>
          <a:xfrm>
            <a:off x="6368796" y="3703320"/>
            <a:ext cx="2267712" cy="822960"/>
          </a:xfrm>
          <a:prstGeom prst="rect">
            <a:avLst/>
          </a:prstGeom>
          <a:noFill/>
          <a:ln/>
        </p:spPr>
        <p:txBody>
          <a:bodyPr wrap="square" lIns="0" tIns="0" rIns="0" bIns="0" rtlCol="0" anchor="t"/>
          <a:lstStyle/>
          <a:p>
            <a:pPr marL="0" indent="0" algn="ctr">
              <a:buNone/>
            </a:pPr>
            <a:r>
              <a:rPr lang="en-US" sz="1350" b="1" dirty="0">
                <a:solidFill>
                  <a:srgbClr val="0B2545"/>
                </a:solidFill>
                <a:latin typeface="Calibri" pitchFamily="34" charset="0"/>
                <a:ea typeface="Calibri" pitchFamily="34" charset="-122"/>
                <a:cs typeface="Calibri" pitchFamily="34" charset="-120"/>
              </a:rPr>
              <a:t>Missing values need caution</a:t>
            </a:r>
            <a:endParaRPr lang="en-US" sz="1350" dirty="0"/>
          </a:p>
        </p:txBody>
      </p:sp>
      <p:sp>
        <p:nvSpPr>
          <p:cNvPr id="17" name="Shape 12"/>
          <p:cNvSpPr/>
          <p:nvPr/>
        </p:nvSpPr>
        <p:spPr>
          <a:xfrm>
            <a:off x="9047988" y="2377440"/>
            <a:ext cx="2542032" cy="2286000"/>
          </a:xfrm>
          <a:prstGeom prst="roundRect">
            <a:avLst>
              <a:gd name="adj" fmla="val 4800"/>
            </a:avLst>
          </a:prstGeom>
          <a:solidFill>
            <a:srgbClr val="F7FAFA"/>
          </a:solidFill>
          <a:ln/>
          <a:effectLst>
            <a:outerShdw blurRad="76200" dist="25400" dir="5400000" algn="bl" rotWithShape="0">
              <a:srgbClr val="000000">
                <a:alpha val="8000"/>
              </a:srgbClr>
            </a:outerShdw>
          </a:effectLst>
        </p:spPr>
      </p:sp>
      <p:sp>
        <p:nvSpPr>
          <p:cNvPr id="18" name="Shape 13"/>
          <p:cNvSpPr/>
          <p:nvPr/>
        </p:nvSpPr>
        <p:spPr>
          <a:xfrm>
            <a:off x="9907524" y="2697480"/>
            <a:ext cx="822960" cy="822960"/>
          </a:xfrm>
          <a:prstGeom prst="ellipse">
            <a:avLst/>
          </a:prstGeom>
          <a:solidFill>
            <a:srgbClr val="DCEFEF"/>
          </a:solidFill>
          <a:ln/>
        </p:spPr>
      </p:sp>
      <p:pic>
        <p:nvPicPr>
          <p:cNvPr id="19" name="Image 3" descr="assets/FaUserMd_teal.png"/>
          <p:cNvPicPr>
            <a:picLocks noChangeAspect="1"/>
          </p:cNvPicPr>
          <p:nvPr/>
        </p:nvPicPr>
        <p:blipFill>
          <a:blip r:embed="rId6"/>
          <a:stretch>
            <a:fillRect/>
          </a:stretch>
        </p:blipFill>
        <p:spPr>
          <a:xfrm>
            <a:off x="10121494" y="2911450"/>
            <a:ext cx="395021" cy="395021"/>
          </a:xfrm>
          <a:prstGeom prst="rect">
            <a:avLst/>
          </a:prstGeom>
        </p:spPr>
      </p:pic>
      <p:sp>
        <p:nvSpPr>
          <p:cNvPr id="20" name="Text 14"/>
          <p:cNvSpPr/>
          <p:nvPr/>
        </p:nvSpPr>
        <p:spPr>
          <a:xfrm>
            <a:off x="9185148" y="3703320"/>
            <a:ext cx="2267712" cy="822960"/>
          </a:xfrm>
          <a:prstGeom prst="rect">
            <a:avLst/>
          </a:prstGeom>
          <a:noFill/>
          <a:ln/>
        </p:spPr>
        <p:txBody>
          <a:bodyPr wrap="square" lIns="0" tIns="0" rIns="0" bIns="0" rtlCol="0" anchor="t"/>
          <a:lstStyle/>
          <a:p>
            <a:pPr marL="0" indent="0" algn="ctr">
              <a:buNone/>
            </a:pPr>
            <a:r>
              <a:rPr lang="en-US" sz="1350" b="1" dirty="0">
                <a:solidFill>
                  <a:srgbClr val="0B2545"/>
                </a:solidFill>
                <a:latin typeface="Calibri" pitchFamily="34" charset="0"/>
                <a:ea typeface="Calibri" pitchFamily="34" charset="-122"/>
                <a:cs typeface="Calibri" pitchFamily="34" charset="-120"/>
              </a:rPr>
              <a:t>Clinical validation required</a:t>
            </a:r>
            <a:endParaRPr lang="en-US" sz="1350" dirty="0"/>
          </a:p>
        </p:txBody>
      </p:sp>
      <p:pic>
        <p:nvPicPr>
          <p:cNvPr id="22" name="Image 1" descr="assets/ribbon_real_cropped.png">
            <a:extLst>
              <a:ext uri="{FF2B5EF4-FFF2-40B4-BE49-F238E27FC236}">
                <a16:creationId xmlns:a16="http://schemas.microsoft.com/office/drawing/2014/main" id="{9B3295EE-B0BF-1198-0035-061EBA438BAD}"/>
              </a:ext>
            </a:extLst>
          </p:cNvPr>
          <p:cNvPicPr>
            <a:picLocks noChangeAspect="1"/>
          </p:cNvPicPr>
          <p:nvPr/>
        </p:nvPicPr>
        <p:blipFill>
          <a:blip r:embed="rId7">
            <a:alphaModFix amt="28000"/>
          </a:blip>
          <a:stretch>
            <a:fillRect/>
          </a:stretch>
        </p:blipFill>
        <p:spPr>
          <a:xfrm rot="-360000">
            <a:off x="137890" y="5574141"/>
            <a:ext cx="731520" cy="1249048"/>
          </a:xfrm>
          <a:prstGeom prst="rect">
            <a:avLst/>
          </a:prstGeom>
        </p:spPr>
      </p:pic>
      <p:pic>
        <p:nvPicPr>
          <p:cNvPr id="24" name="Image 1" descr="assets/ribbon_real_cropped.png">
            <a:extLst>
              <a:ext uri="{FF2B5EF4-FFF2-40B4-BE49-F238E27FC236}">
                <a16:creationId xmlns:a16="http://schemas.microsoft.com/office/drawing/2014/main" id="{BDEE252A-AB34-4600-C916-B925C20545A6}"/>
              </a:ext>
            </a:extLst>
          </p:cNvPr>
          <p:cNvPicPr>
            <a:picLocks noChangeAspect="1"/>
          </p:cNvPicPr>
          <p:nvPr/>
        </p:nvPicPr>
        <p:blipFill>
          <a:blip r:embed="rId7">
            <a:alphaModFix amt="28000"/>
          </a:blip>
          <a:stretch>
            <a:fillRect/>
          </a:stretch>
        </p:blipFill>
        <p:spPr>
          <a:xfrm rot="-360000">
            <a:off x="11397203" y="34811"/>
            <a:ext cx="731520" cy="1249048"/>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bg>
      <p:bgPr>
        <a:solidFill>
          <a:srgbClr val="0B2545"/>
        </a:solidFill>
        <a:effectLst/>
      </p:bgPr>
    </p:bg>
    <p:spTree>
      <p:nvGrpSpPr>
        <p:cNvPr id="1" name=""/>
        <p:cNvGrpSpPr/>
        <p:nvPr/>
      </p:nvGrpSpPr>
      <p:grpSpPr>
        <a:xfrm>
          <a:off x="0" y="0"/>
          <a:ext cx="0" cy="0"/>
          <a:chOff x="0" y="0"/>
          <a:chExt cx="0" cy="0"/>
        </a:xfrm>
      </p:grpSpPr>
      <p:sp>
        <p:nvSpPr>
          <p:cNvPr id="2" name="Text 0"/>
          <p:cNvSpPr/>
          <p:nvPr/>
        </p:nvSpPr>
        <p:spPr>
          <a:xfrm>
            <a:off x="822960" y="685800"/>
            <a:ext cx="7315200" cy="731520"/>
          </a:xfrm>
          <a:prstGeom prst="rect">
            <a:avLst/>
          </a:prstGeom>
          <a:noFill/>
          <a:ln/>
        </p:spPr>
        <p:txBody>
          <a:bodyPr wrap="square" lIns="0" tIns="0" rIns="0" bIns="0" rtlCol="0" anchor="ctr"/>
          <a:lstStyle/>
          <a:p>
            <a:pPr marL="0" indent="0">
              <a:buNone/>
            </a:pPr>
            <a:r>
              <a:rPr lang="en-US" sz="3400" b="1" dirty="0">
                <a:solidFill>
                  <a:srgbClr val="FFFFFF"/>
                </a:solidFill>
                <a:latin typeface="Cambria" pitchFamily="34" charset="0"/>
                <a:ea typeface="Cambria" pitchFamily="34" charset="-122"/>
                <a:cs typeface="Cambria" pitchFamily="34" charset="-120"/>
              </a:rPr>
              <a:t>Conclusion</a:t>
            </a:r>
            <a:endParaRPr lang="en-US" sz="3400" dirty="0"/>
          </a:p>
        </p:txBody>
      </p:sp>
      <p:pic>
        <p:nvPicPr>
          <p:cNvPr id="3" name="Image 0" descr="assets/FaProcedures_mint.png"/>
          <p:cNvPicPr>
            <a:picLocks noChangeAspect="1"/>
          </p:cNvPicPr>
          <p:nvPr/>
        </p:nvPicPr>
        <p:blipFill>
          <a:blip r:embed="rId3"/>
          <a:stretch>
            <a:fillRect/>
          </a:stretch>
        </p:blipFill>
        <p:spPr>
          <a:xfrm>
            <a:off x="868680" y="1856232"/>
            <a:ext cx="457200" cy="457200"/>
          </a:xfrm>
          <a:prstGeom prst="rect">
            <a:avLst/>
          </a:prstGeom>
        </p:spPr>
      </p:pic>
      <p:sp>
        <p:nvSpPr>
          <p:cNvPr id="4" name="Text 1"/>
          <p:cNvSpPr/>
          <p:nvPr/>
        </p:nvSpPr>
        <p:spPr>
          <a:xfrm>
            <a:off x="1554480" y="1783080"/>
            <a:ext cx="9601200" cy="640080"/>
          </a:xfrm>
          <a:prstGeom prst="rect">
            <a:avLst/>
          </a:prstGeom>
          <a:noFill/>
          <a:ln/>
        </p:spPr>
        <p:txBody>
          <a:bodyPr wrap="square" lIns="0" tIns="0" rIns="0" bIns="0" rtlCol="0" anchor="ctr"/>
          <a:lstStyle/>
          <a:p>
            <a:pPr marL="0" indent="0">
              <a:buNone/>
            </a:pPr>
            <a:r>
              <a:rPr lang="en-US" sz="1700" dirty="0">
                <a:solidFill>
                  <a:srgbClr val="FFFFFF"/>
                </a:solidFill>
                <a:latin typeface="Calibri" pitchFamily="34" charset="0"/>
                <a:ea typeface="Calibri" pitchFamily="34" charset="-122"/>
                <a:cs typeface="Calibri" pitchFamily="34" charset="-120"/>
              </a:rPr>
              <a:t>Prior inpatient history was the strongest pattern</a:t>
            </a:r>
            <a:endParaRPr lang="en-US" sz="1700" dirty="0"/>
          </a:p>
        </p:txBody>
      </p:sp>
      <p:pic>
        <p:nvPicPr>
          <p:cNvPr id="5" name="Image 1" descr="assets/FaFlask_mint.png"/>
          <p:cNvPicPr>
            <a:picLocks noChangeAspect="1"/>
          </p:cNvPicPr>
          <p:nvPr/>
        </p:nvPicPr>
        <p:blipFill>
          <a:blip r:embed="rId4"/>
          <a:stretch>
            <a:fillRect/>
          </a:stretch>
        </p:blipFill>
        <p:spPr>
          <a:xfrm>
            <a:off x="868680" y="2724912"/>
            <a:ext cx="457200" cy="457200"/>
          </a:xfrm>
          <a:prstGeom prst="rect">
            <a:avLst/>
          </a:prstGeom>
        </p:spPr>
      </p:pic>
      <p:sp>
        <p:nvSpPr>
          <p:cNvPr id="6" name="Text 2"/>
          <p:cNvSpPr/>
          <p:nvPr/>
        </p:nvSpPr>
        <p:spPr>
          <a:xfrm>
            <a:off x="1554480" y="2651760"/>
            <a:ext cx="9601200" cy="640080"/>
          </a:xfrm>
          <a:prstGeom prst="rect">
            <a:avLst/>
          </a:prstGeom>
          <a:noFill/>
          <a:ln/>
        </p:spPr>
        <p:txBody>
          <a:bodyPr wrap="square" lIns="0" tIns="0" rIns="0" bIns="0" rtlCol="0" anchor="ctr"/>
          <a:lstStyle/>
          <a:p>
            <a:pPr marL="0" indent="0">
              <a:buNone/>
            </a:pPr>
            <a:r>
              <a:rPr lang="en-US" sz="1700" dirty="0">
                <a:solidFill>
                  <a:srgbClr val="FFFFFF"/>
                </a:solidFill>
                <a:latin typeface="Calibri" pitchFamily="34" charset="0"/>
                <a:ea typeface="Calibri" pitchFamily="34" charset="-122"/>
                <a:cs typeface="Calibri" pitchFamily="34" charset="-120"/>
              </a:rPr>
              <a:t>Missing A1C / glucose results added useful context</a:t>
            </a:r>
            <a:endParaRPr lang="en-US" sz="1700" dirty="0"/>
          </a:p>
        </p:txBody>
      </p:sp>
      <p:pic>
        <p:nvPicPr>
          <p:cNvPr id="7" name="Image 2" descr="assets/FaClipboardList_mint.png"/>
          <p:cNvPicPr>
            <a:picLocks noChangeAspect="1"/>
          </p:cNvPicPr>
          <p:nvPr/>
        </p:nvPicPr>
        <p:blipFill>
          <a:blip r:embed="rId5"/>
          <a:stretch>
            <a:fillRect/>
          </a:stretch>
        </p:blipFill>
        <p:spPr>
          <a:xfrm>
            <a:off x="868680" y="3593592"/>
            <a:ext cx="457200" cy="457200"/>
          </a:xfrm>
          <a:prstGeom prst="rect">
            <a:avLst/>
          </a:prstGeom>
        </p:spPr>
      </p:pic>
      <p:sp>
        <p:nvSpPr>
          <p:cNvPr id="8" name="Text 3"/>
          <p:cNvSpPr/>
          <p:nvPr/>
        </p:nvSpPr>
        <p:spPr>
          <a:xfrm>
            <a:off x="1554480" y="3520440"/>
            <a:ext cx="9601200" cy="640080"/>
          </a:xfrm>
          <a:prstGeom prst="rect">
            <a:avLst/>
          </a:prstGeom>
          <a:noFill/>
          <a:ln/>
        </p:spPr>
        <p:txBody>
          <a:bodyPr wrap="square" lIns="0" tIns="0" rIns="0" bIns="0" rtlCol="0" anchor="ctr"/>
          <a:lstStyle/>
          <a:p>
            <a:pPr marL="0" indent="0">
              <a:buNone/>
            </a:pPr>
            <a:r>
              <a:rPr lang="en-US" sz="1700" dirty="0">
                <a:solidFill>
                  <a:srgbClr val="FFFFFF"/>
                </a:solidFill>
                <a:latin typeface="Calibri" pitchFamily="34" charset="0"/>
                <a:ea typeface="Calibri" pitchFamily="34" charset="-122"/>
                <a:cs typeface="Calibri" pitchFamily="34" charset="-120"/>
              </a:rPr>
              <a:t>Rules can support follow-up and discharge planning</a:t>
            </a:r>
            <a:endParaRPr lang="en-US" sz="1700" dirty="0"/>
          </a:p>
        </p:txBody>
      </p:sp>
      <p:pic>
        <p:nvPicPr>
          <p:cNvPr id="9" name="Image 3" descr="assets/FaCheckCircle_mint.png"/>
          <p:cNvPicPr>
            <a:picLocks noChangeAspect="1"/>
          </p:cNvPicPr>
          <p:nvPr/>
        </p:nvPicPr>
        <p:blipFill>
          <a:blip r:embed="rId6"/>
          <a:stretch>
            <a:fillRect/>
          </a:stretch>
        </p:blipFill>
        <p:spPr>
          <a:xfrm>
            <a:off x="868680" y="4462272"/>
            <a:ext cx="457200" cy="457200"/>
          </a:xfrm>
          <a:prstGeom prst="rect">
            <a:avLst/>
          </a:prstGeom>
        </p:spPr>
      </p:pic>
      <p:sp>
        <p:nvSpPr>
          <p:cNvPr id="10" name="Text 4"/>
          <p:cNvSpPr/>
          <p:nvPr/>
        </p:nvSpPr>
        <p:spPr>
          <a:xfrm>
            <a:off x="1554480" y="4389120"/>
            <a:ext cx="9601200" cy="640080"/>
          </a:xfrm>
          <a:prstGeom prst="rect">
            <a:avLst/>
          </a:prstGeom>
          <a:noFill/>
          <a:ln/>
        </p:spPr>
        <p:txBody>
          <a:bodyPr wrap="square" lIns="0" tIns="0" rIns="0" bIns="0" rtlCol="0" anchor="ctr"/>
          <a:lstStyle/>
          <a:p>
            <a:pPr marL="0" indent="0">
              <a:buNone/>
            </a:pPr>
            <a:r>
              <a:rPr lang="en-US" sz="1700" dirty="0">
                <a:solidFill>
                  <a:srgbClr val="FFFFFF"/>
                </a:solidFill>
                <a:latin typeface="Calibri" pitchFamily="34" charset="0"/>
                <a:ea typeface="Calibri" pitchFamily="34" charset="-122"/>
                <a:cs typeface="Calibri" pitchFamily="34" charset="-120"/>
              </a:rPr>
              <a:t>Best rules were simple, interpretable, and actionable</a:t>
            </a:r>
            <a:endParaRPr lang="en-US" sz="1700" dirty="0"/>
          </a:p>
        </p:txBody>
      </p:sp>
      <p:pic>
        <p:nvPicPr>
          <p:cNvPr id="14" name="Image 1" descr="assets/ribbon_real_cropped.png">
            <a:extLst>
              <a:ext uri="{FF2B5EF4-FFF2-40B4-BE49-F238E27FC236}">
                <a16:creationId xmlns:a16="http://schemas.microsoft.com/office/drawing/2014/main" id="{3A1432B1-EFA0-898B-062F-1B8CB49E0E76}"/>
              </a:ext>
            </a:extLst>
          </p:cNvPr>
          <p:cNvPicPr>
            <a:picLocks noChangeAspect="1"/>
          </p:cNvPicPr>
          <p:nvPr/>
        </p:nvPicPr>
        <p:blipFill>
          <a:blip r:embed="rId7">
            <a:alphaModFix amt="28000"/>
          </a:blip>
          <a:stretch>
            <a:fillRect/>
          </a:stretch>
        </p:blipFill>
        <p:spPr>
          <a:xfrm rot="-360000">
            <a:off x="137890" y="5574141"/>
            <a:ext cx="731520" cy="1249048"/>
          </a:xfrm>
          <a:prstGeom prst="rect">
            <a:avLst/>
          </a:prstGeom>
        </p:spPr>
      </p:pic>
      <p:pic>
        <p:nvPicPr>
          <p:cNvPr id="16" name="Image 1" descr="assets/ribbon_real_cropped.png">
            <a:extLst>
              <a:ext uri="{FF2B5EF4-FFF2-40B4-BE49-F238E27FC236}">
                <a16:creationId xmlns:a16="http://schemas.microsoft.com/office/drawing/2014/main" id="{21902D52-5F2A-4213-583A-5CEFCAF7150D}"/>
              </a:ext>
            </a:extLst>
          </p:cNvPr>
          <p:cNvPicPr>
            <a:picLocks noChangeAspect="1"/>
          </p:cNvPicPr>
          <p:nvPr/>
        </p:nvPicPr>
        <p:blipFill>
          <a:blip r:embed="rId7">
            <a:alphaModFix amt="28000"/>
          </a:blip>
          <a:stretch>
            <a:fillRect/>
          </a:stretch>
        </p:blipFill>
        <p:spPr>
          <a:xfrm rot="-360000">
            <a:off x="11353472" y="34812"/>
            <a:ext cx="731520" cy="1249048"/>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640080" y="502920"/>
            <a:ext cx="7315200" cy="640080"/>
          </a:xfrm>
          <a:prstGeom prst="rect">
            <a:avLst/>
          </a:prstGeom>
          <a:noFill/>
          <a:ln/>
        </p:spPr>
        <p:txBody>
          <a:bodyPr wrap="square" lIns="0" tIns="0" rIns="0" bIns="0" rtlCol="0" anchor="ctr"/>
          <a:lstStyle/>
          <a:p>
            <a:pPr marL="0" indent="0">
              <a:buNone/>
            </a:pPr>
            <a:r>
              <a:rPr lang="en-US" sz="3200" b="1" dirty="0">
                <a:solidFill>
                  <a:srgbClr val="0B2545"/>
                </a:solidFill>
                <a:latin typeface="Cambria" pitchFamily="34" charset="0"/>
                <a:ea typeface="Cambria" pitchFamily="34" charset="-122"/>
                <a:cs typeface="Cambria" pitchFamily="34" charset="-120"/>
              </a:rPr>
              <a:t>References</a:t>
            </a:r>
            <a:endParaRPr lang="en-US" sz="3200" dirty="0"/>
          </a:p>
        </p:txBody>
      </p:sp>
      <p:sp>
        <p:nvSpPr>
          <p:cNvPr id="5" name="Shape 3"/>
          <p:cNvSpPr/>
          <p:nvPr/>
        </p:nvSpPr>
        <p:spPr>
          <a:xfrm>
            <a:off x="1097280" y="1874520"/>
            <a:ext cx="9966960" cy="1078992"/>
          </a:xfrm>
          <a:prstGeom prst="roundRect">
            <a:avLst>
              <a:gd name="adj" fmla="val 8475"/>
            </a:avLst>
          </a:prstGeom>
          <a:solidFill>
            <a:srgbClr val="F7FAFA"/>
          </a:solidFill>
          <a:ln/>
          <a:effectLst>
            <a:outerShdw blurRad="76200" dist="25400" dir="5400000" algn="bl" rotWithShape="0">
              <a:srgbClr val="000000">
                <a:alpha val="7000"/>
              </a:srgbClr>
            </a:outerShdw>
          </a:effectLst>
        </p:spPr>
      </p:sp>
      <p:sp>
        <p:nvSpPr>
          <p:cNvPr id="6" name="Shape 4"/>
          <p:cNvSpPr/>
          <p:nvPr/>
        </p:nvSpPr>
        <p:spPr>
          <a:xfrm>
            <a:off x="1325880" y="2048256"/>
            <a:ext cx="731520" cy="731520"/>
          </a:xfrm>
          <a:prstGeom prst="ellipse">
            <a:avLst/>
          </a:prstGeom>
          <a:solidFill>
            <a:srgbClr val="DCEFEF"/>
          </a:solidFill>
          <a:ln/>
        </p:spPr>
      </p:sp>
      <p:pic>
        <p:nvPicPr>
          <p:cNvPr id="7" name="Image 0" descr="assets/FaDatabase_teal.png"/>
          <p:cNvPicPr>
            <a:picLocks noChangeAspect="1"/>
          </p:cNvPicPr>
          <p:nvPr/>
        </p:nvPicPr>
        <p:blipFill>
          <a:blip r:embed="rId3"/>
          <a:stretch>
            <a:fillRect/>
          </a:stretch>
        </p:blipFill>
        <p:spPr>
          <a:xfrm>
            <a:off x="1516075" y="2238451"/>
            <a:ext cx="351130" cy="351130"/>
          </a:xfrm>
          <a:prstGeom prst="rect">
            <a:avLst/>
          </a:prstGeom>
        </p:spPr>
      </p:pic>
      <p:sp>
        <p:nvSpPr>
          <p:cNvPr id="8" name="Text 5"/>
          <p:cNvSpPr/>
          <p:nvPr/>
        </p:nvSpPr>
        <p:spPr>
          <a:xfrm>
            <a:off x="2331720" y="2011680"/>
            <a:ext cx="8412480" cy="274320"/>
          </a:xfrm>
          <a:prstGeom prst="rect">
            <a:avLst/>
          </a:prstGeom>
          <a:noFill/>
          <a:ln/>
        </p:spPr>
        <p:txBody>
          <a:bodyPr wrap="square" lIns="0" tIns="0" rIns="0" bIns="0" rtlCol="0" anchor="ctr"/>
          <a:lstStyle/>
          <a:p>
            <a:pPr marL="0" indent="0">
              <a:buNone/>
            </a:pPr>
            <a:r>
              <a:rPr lang="en-US" sz="1050" b="1" kern="0" spc="130" dirty="0">
                <a:solidFill>
                  <a:srgbClr val="00A896"/>
                </a:solidFill>
                <a:latin typeface="Calibri" pitchFamily="34" charset="0"/>
                <a:ea typeface="Calibri" pitchFamily="34" charset="-122"/>
                <a:cs typeface="Calibri" pitchFamily="34" charset="-120"/>
              </a:rPr>
              <a:t>DATASET</a:t>
            </a:r>
            <a:endParaRPr lang="en-US" sz="1050" dirty="0"/>
          </a:p>
        </p:txBody>
      </p:sp>
      <p:sp>
        <p:nvSpPr>
          <p:cNvPr id="9" name="Text 6"/>
          <p:cNvSpPr/>
          <p:nvPr/>
        </p:nvSpPr>
        <p:spPr>
          <a:xfrm>
            <a:off x="2331720" y="2286000"/>
            <a:ext cx="8412480" cy="594360"/>
          </a:xfrm>
          <a:prstGeom prst="rect">
            <a:avLst/>
          </a:prstGeom>
          <a:noFill/>
          <a:ln/>
        </p:spPr>
        <p:txBody>
          <a:bodyPr wrap="square" lIns="0" tIns="0" rIns="0" bIns="0" rtlCol="0" anchor="ctr"/>
          <a:lstStyle/>
          <a:p>
            <a:pPr marL="0" indent="0">
              <a:buNone/>
            </a:pPr>
            <a:r>
              <a:rPr lang="en-US" sz="1300" i="1" dirty="0">
                <a:solidFill>
                  <a:srgbClr val="445566"/>
                </a:solidFill>
                <a:latin typeface="Calibri" pitchFamily="34" charset="0"/>
                <a:ea typeface="Calibri" pitchFamily="34" charset="-122"/>
                <a:cs typeface="Calibri" pitchFamily="34" charset="-120"/>
              </a:rPr>
              <a:t>Strack, B., DeShazo, J.P., et al. Diabetes 130-US Hospitals for Years 1999–2008. UCI Machine Learning Repository.</a:t>
            </a:r>
            <a:endParaRPr lang="en-US" sz="1300" dirty="0"/>
          </a:p>
        </p:txBody>
      </p:sp>
      <p:sp>
        <p:nvSpPr>
          <p:cNvPr id="10" name="Shape 7"/>
          <p:cNvSpPr/>
          <p:nvPr/>
        </p:nvSpPr>
        <p:spPr>
          <a:xfrm>
            <a:off x="1097280" y="3172968"/>
            <a:ext cx="9966960" cy="1078992"/>
          </a:xfrm>
          <a:prstGeom prst="roundRect">
            <a:avLst>
              <a:gd name="adj" fmla="val 8475"/>
            </a:avLst>
          </a:prstGeom>
          <a:solidFill>
            <a:srgbClr val="F7FAFA"/>
          </a:solidFill>
          <a:ln/>
          <a:effectLst>
            <a:outerShdw blurRad="76200" dist="25400" dir="5400000" algn="bl" rotWithShape="0">
              <a:srgbClr val="000000">
                <a:alpha val="7000"/>
              </a:srgbClr>
            </a:outerShdw>
          </a:effectLst>
        </p:spPr>
      </p:sp>
      <p:sp>
        <p:nvSpPr>
          <p:cNvPr id="11" name="Shape 8"/>
          <p:cNvSpPr/>
          <p:nvPr/>
        </p:nvSpPr>
        <p:spPr>
          <a:xfrm>
            <a:off x="1325880" y="3346704"/>
            <a:ext cx="731520" cy="731520"/>
          </a:xfrm>
          <a:prstGeom prst="ellipse">
            <a:avLst/>
          </a:prstGeom>
          <a:solidFill>
            <a:srgbClr val="DCEFEF"/>
          </a:solidFill>
          <a:ln/>
        </p:spPr>
      </p:sp>
      <p:pic>
        <p:nvPicPr>
          <p:cNvPr id="12" name="Image 1" descr="assets/FaProjectDiagram_teal.png"/>
          <p:cNvPicPr>
            <a:picLocks noChangeAspect="1"/>
          </p:cNvPicPr>
          <p:nvPr/>
        </p:nvPicPr>
        <p:blipFill>
          <a:blip r:embed="rId4"/>
          <a:stretch>
            <a:fillRect/>
          </a:stretch>
        </p:blipFill>
        <p:spPr>
          <a:xfrm>
            <a:off x="1516075" y="3536899"/>
            <a:ext cx="351130" cy="351130"/>
          </a:xfrm>
          <a:prstGeom prst="rect">
            <a:avLst/>
          </a:prstGeom>
        </p:spPr>
      </p:pic>
      <p:sp>
        <p:nvSpPr>
          <p:cNvPr id="13" name="Text 9"/>
          <p:cNvSpPr/>
          <p:nvPr/>
        </p:nvSpPr>
        <p:spPr>
          <a:xfrm>
            <a:off x="2331720" y="3310128"/>
            <a:ext cx="8412480" cy="274320"/>
          </a:xfrm>
          <a:prstGeom prst="rect">
            <a:avLst/>
          </a:prstGeom>
          <a:noFill/>
          <a:ln/>
        </p:spPr>
        <p:txBody>
          <a:bodyPr wrap="square" lIns="0" tIns="0" rIns="0" bIns="0" rtlCol="0" anchor="ctr"/>
          <a:lstStyle/>
          <a:p>
            <a:pPr marL="0" indent="0">
              <a:buNone/>
            </a:pPr>
            <a:r>
              <a:rPr lang="en-US" sz="1050" b="1" kern="0" spc="130" dirty="0">
                <a:solidFill>
                  <a:srgbClr val="00A896"/>
                </a:solidFill>
                <a:latin typeface="Calibri" pitchFamily="34" charset="0"/>
                <a:ea typeface="Calibri" pitchFamily="34" charset="-122"/>
                <a:cs typeface="Calibri" pitchFamily="34" charset="-120"/>
              </a:rPr>
              <a:t>SOFTWARE</a:t>
            </a:r>
            <a:endParaRPr lang="en-US" sz="1050" dirty="0"/>
          </a:p>
        </p:txBody>
      </p:sp>
      <p:sp>
        <p:nvSpPr>
          <p:cNvPr id="14" name="Text 10"/>
          <p:cNvSpPr/>
          <p:nvPr/>
        </p:nvSpPr>
        <p:spPr>
          <a:xfrm>
            <a:off x="2331720" y="3584448"/>
            <a:ext cx="8412480" cy="594360"/>
          </a:xfrm>
          <a:prstGeom prst="rect">
            <a:avLst/>
          </a:prstGeom>
          <a:noFill/>
          <a:ln/>
        </p:spPr>
        <p:txBody>
          <a:bodyPr wrap="square" lIns="0" tIns="0" rIns="0" bIns="0" rtlCol="0" anchor="ctr"/>
          <a:lstStyle/>
          <a:p>
            <a:pPr marL="0" indent="0">
              <a:buNone/>
            </a:pPr>
            <a:r>
              <a:rPr lang="en-US" sz="1300" i="1" dirty="0">
                <a:solidFill>
                  <a:srgbClr val="445566"/>
                </a:solidFill>
                <a:latin typeface="Calibri" pitchFamily="34" charset="0"/>
                <a:ea typeface="Calibri" pitchFamily="34" charset="-122"/>
                <a:cs typeface="Calibri" pitchFamily="34" charset="-120"/>
              </a:rPr>
              <a:t>Demšar, J., et al. Orange: Data Mining Toolbox in Python. Orange Data Mining documentation.</a:t>
            </a:r>
            <a:endParaRPr lang="en-US" sz="1300" dirty="0"/>
          </a:p>
        </p:txBody>
      </p:sp>
      <p:sp>
        <p:nvSpPr>
          <p:cNvPr id="15" name="Shape 11"/>
          <p:cNvSpPr/>
          <p:nvPr/>
        </p:nvSpPr>
        <p:spPr>
          <a:xfrm>
            <a:off x="1097280" y="4471416"/>
            <a:ext cx="9966960" cy="1078992"/>
          </a:xfrm>
          <a:prstGeom prst="roundRect">
            <a:avLst>
              <a:gd name="adj" fmla="val 8475"/>
            </a:avLst>
          </a:prstGeom>
          <a:solidFill>
            <a:srgbClr val="F7FAFA"/>
          </a:solidFill>
          <a:ln/>
          <a:effectLst>
            <a:outerShdw blurRad="76200" dist="25400" dir="5400000" algn="bl" rotWithShape="0">
              <a:srgbClr val="000000">
                <a:alpha val="7000"/>
              </a:srgbClr>
            </a:outerShdw>
          </a:effectLst>
        </p:spPr>
      </p:sp>
      <p:sp>
        <p:nvSpPr>
          <p:cNvPr id="16" name="Shape 12"/>
          <p:cNvSpPr/>
          <p:nvPr/>
        </p:nvSpPr>
        <p:spPr>
          <a:xfrm>
            <a:off x="1325880" y="4645152"/>
            <a:ext cx="731520" cy="731520"/>
          </a:xfrm>
          <a:prstGeom prst="ellipse">
            <a:avLst/>
          </a:prstGeom>
          <a:solidFill>
            <a:srgbClr val="DCEFEF"/>
          </a:solidFill>
          <a:ln/>
        </p:spPr>
      </p:sp>
      <p:pic>
        <p:nvPicPr>
          <p:cNvPr id="17" name="Image 2" descr="assets/FaBookOpen_teal.png"/>
          <p:cNvPicPr>
            <a:picLocks noChangeAspect="1"/>
          </p:cNvPicPr>
          <p:nvPr/>
        </p:nvPicPr>
        <p:blipFill>
          <a:blip r:embed="rId5"/>
          <a:stretch>
            <a:fillRect/>
          </a:stretch>
        </p:blipFill>
        <p:spPr>
          <a:xfrm>
            <a:off x="1516075" y="4835347"/>
            <a:ext cx="351130" cy="351130"/>
          </a:xfrm>
          <a:prstGeom prst="rect">
            <a:avLst/>
          </a:prstGeom>
        </p:spPr>
      </p:pic>
      <p:sp>
        <p:nvSpPr>
          <p:cNvPr id="18" name="Text 13"/>
          <p:cNvSpPr/>
          <p:nvPr/>
        </p:nvSpPr>
        <p:spPr>
          <a:xfrm>
            <a:off x="2331720" y="4608576"/>
            <a:ext cx="8412480" cy="274320"/>
          </a:xfrm>
          <a:prstGeom prst="rect">
            <a:avLst/>
          </a:prstGeom>
          <a:noFill/>
          <a:ln/>
        </p:spPr>
        <p:txBody>
          <a:bodyPr wrap="square" lIns="0" tIns="0" rIns="0" bIns="0" rtlCol="0" anchor="ctr"/>
          <a:lstStyle/>
          <a:p>
            <a:pPr marL="0" indent="0">
              <a:buNone/>
            </a:pPr>
            <a:r>
              <a:rPr lang="en-US" sz="1050" b="1" kern="0" spc="130" dirty="0">
                <a:solidFill>
                  <a:srgbClr val="00A896"/>
                </a:solidFill>
                <a:latin typeface="Calibri" pitchFamily="34" charset="0"/>
                <a:ea typeface="Calibri" pitchFamily="34" charset="-122"/>
                <a:cs typeface="Calibri" pitchFamily="34" charset="-120"/>
              </a:rPr>
              <a:t>METHODOLOGY</a:t>
            </a:r>
            <a:endParaRPr lang="en-US" sz="1050" dirty="0"/>
          </a:p>
        </p:txBody>
      </p:sp>
      <p:sp>
        <p:nvSpPr>
          <p:cNvPr id="19" name="Text 14"/>
          <p:cNvSpPr/>
          <p:nvPr/>
        </p:nvSpPr>
        <p:spPr>
          <a:xfrm>
            <a:off x="2331720" y="4882896"/>
            <a:ext cx="8412480" cy="594360"/>
          </a:xfrm>
          <a:prstGeom prst="rect">
            <a:avLst/>
          </a:prstGeom>
          <a:noFill/>
          <a:ln/>
        </p:spPr>
        <p:txBody>
          <a:bodyPr wrap="square" lIns="0" tIns="0" rIns="0" bIns="0" rtlCol="0" anchor="ctr"/>
          <a:lstStyle/>
          <a:p>
            <a:pPr marL="0" indent="0">
              <a:buNone/>
            </a:pPr>
            <a:r>
              <a:rPr lang="en-US" sz="1300" i="1" dirty="0">
                <a:solidFill>
                  <a:srgbClr val="445566"/>
                </a:solidFill>
                <a:latin typeface="Calibri" pitchFamily="34" charset="0"/>
                <a:ea typeface="Calibri" pitchFamily="34" charset="-122"/>
                <a:cs typeface="Calibri" pitchFamily="34" charset="-120"/>
              </a:rPr>
              <a:t>Agrawal, R., Imieliński, T., &amp; Swami, A. Mining association rules between sets of items in large databases.</a:t>
            </a:r>
            <a:endParaRPr lang="en-US" sz="1300" dirty="0"/>
          </a:p>
        </p:txBody>
      </p:sp>
      <p:pic>
        <p:nvPicPr>
          <p:cNvPr id="21" name="Image 1" descr="assets/ribbon_real_cropped.png">
            <a:extLst>
              <a:ext uri="{FF2B5EF4-FFF2-40B4-BE49-F238E27FC236}">
                <a16:creationId xmlns:a16="http://schemas.microsoft.com/office/drawing/2014/main" id="{35AD2D09-A297-9D8D-DE4D-E703E91DA75B}"/>
              </a:ext>
            </a:extLst>
          </p:cNvPr>
          <p:cNvPicPr>
            <a:picLocks noChangeAspect="1"/>
          </p:cNvPicPr>
          <p:nvPr/>
        </p:nvPicPr>
        <p:blipFill>
          <a:blip r:embed="rId6">
            <a:alphaModFix amt="28000"/>
          </a:blip>
          <a:stretch>
            <a:fillRect/>
          </a:stretch>
        </p:blipFill>
        <p:spPr>
          <a:xfrm rot="-360000">
            <a:off x="137890" y="5574141"/>
            <a:ext cx="731520" cy="1249048"/>
          </a:xfrm>
          <a:prstGeom prst="rect">
            <a:avLst/>
          </a:prstGeom>
        </p:spPr>
      </p:pic>
      <p:pic>
        <p:nvPicPr>
          <p:cNvPr id="23" name="Image 1" descr="assets/ribbon_real_cropped.png">
            <a:extLst>
              <a:ext uri="{FF2B5EF4-FFF2-40B4-BE49-F238E27FC236}">
                <a16:creationId xmlns:a16="http://schemas.microsoft.com/office/drawing/2014/main" id="{F207B0DC-F029-2E00-BB4E-614DB24F8DF4}"/>
              </a:ext>
            </a:extLst>
          </p:cNvPr>
          <p:cNvPicPr>
            <a:picLocks noChangeAspect="1"/>
          </p:cNvPicPr>
          <p:nvPr/>
        </p:nvPicPr>
        <p:blipFill>
          <a:blip r:embed="rId6">
            <a:alphaModFix amt="28000"/>
          </a:blip>
          <a:stretch>
            <a:fillRect/>
          </a:stretch>
        </p:blipFill>
        <p:spPr>
          <a:xfrm rot="-360000">
            <a:off x="11365993" y="34810"/>
            <a:ext cx="731520" cy="1249048"/>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B2545"/>
        </a:solidFill>
        <a:effectLst/>
      </p:bgPr>
    </p:bg>
    <p:spTree>
      <p:nvGrpSpPr>
        <p:cNvPr id="1" name="">
          <a:extLst>
            <a:ext uri="{FF2B5EF4-FFF2-40B4-BE49-F238E27FC236}">
              <a16:creationId xmlns:a16="http://schemas.microsoft.com/office/drawing/2014/main" id="{CEA4D5C4-945F-AE38-D01C-DD4CA81A3547}"/>
            </a:ext>
          </a:extLst>
        </p:cNvPr>
        <p:cNvGrpSpPr/>
        <p:nvPr/>
      </p:nvGrpSpPr>
      <p:grpSpPr>
        <a:xfrm>
          <a:off x="0" y="0"/>
          <a:ext cx="0" cy="0"/>
          <a:chOff x="0" y="0"/>
          <a:chExt cx="0" cy="0"/>
        </a:xfrm>
      </p:grpSpPr>
      <p:pic>
        <p:nvPicPr>
          <p:cNvPr id="16" name="Image 1" descr="assets/ribbon_real_cropped.png">
            <a:extLst>
              <a:ext uri="{FF2B5EF4-FFF2-40B4-BE49-F238E27FC236}">
                <a16:creationId xmlns:a16="http://schemas.microsoft.com/office/drawing/2014/main" id="{78CC7F96-0933-900E-19AF-94CF962B3176}"/>
              </a:ext>
            </a:extLst>
          </p:cNvPr>
          <p:cNvPicPr>
            <a:picLocks noChangeAspect="1"/>
          </p:cNvPicPr>
          <p:nvPr/>
        </p:nvPicPr>
        <p:blipFill>
          <a:blip r:embed="rId3">
            <a:alphaModFix amt="28000"/>
          </a:blip>
          <a:stretch>
            <a:fillRect/>
          </a:stretch>
        </p:blipFill>
        <p:spPr>
          <a:xfrm>
            <a:off x="4344973" y="817574"/>
            <a:ext cx="3184359" cy="5437195"/>
          </a:xfrm>
          <a:prstGeom prst="rect">
            <a:avLst/>
          </a:prstGeom>
        </p:spPr>
      </p:pic>
      <p:sp>
        <p:nvSpPr>
          <p:cNvPr id="2" name="Text 0">
            <a:extLst>
              <a:ext uri="{FF2B5EF4-FFF2-40B4-BE49-F238E27FC236}">
                <a16:creationId xmlns:a16="http://schemas.microsoft.com/office/drawing/2014/main" id="{984D7010-30F6-243E-7EE8-521A42332498}"/>
              </a:ext>
            </a:extLst>
          </p:cNvPr>
          <p:cNvSpPr/>
          <p:nvPr/>
        </p:nvSpPr>
        <p:spPr>
          <a:xfrm>
            <a:off x="2357120" y="2534920"/>
            <a:ext cx="7315200" cy="1468120"/>
          </a:xfrm>
          <a:prstGeom prst="rect">
            <a:avLst/>
          </a:prstGeom>
          <a:noFill/>
          <a:ln/>
        </p:spPr>
        <p:txBody>
          <a:bodyPr wrap="square" lIns="0" tIns="0" rIns="0" bIns="0" rtlCol="0" anchor="ctr"/>
          <a:lstStyle/>
          <a:p>
            <a:pPr marL="0" indent="0" algn="ctr">
              <a:buNone/>
            </a:pPr>
            <a:r>
              <a:rPr lang="en-US" sz="11500" b="1" dirty="0">
                <a:solidFill>
                  <a:srgbClr val="FFFFFF"/>
                </a:solidFill>
                <a:latin typeface="Cambria" pitchFamily="34" charset="0"/>
                <a:ea typeface="Cambria" pitchFamily="34" charset="-122"/>
                <a:cs typeface="Cambria" pitchFamily="34" charset="-120"/>
              </a:rPr>
              <a:t>Thank You</a:t>
            </a:r>
            <a:endParaRPr lang="en-US" sz="3400" dirty="0"/>
          </a:p>
        </p:txBody>
      </p:sp>
    </p:spTree>
    <p:extLst>
      <p:ext uri="{BB962C8B-B14F-4D97-AF65-F5344CB8AC3E}">
        <p14:creationId xmlns:p14="http://schemas.microsoft.com/office/powerpoint/2010/main" val="32982676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219</TotalTime>
  <Words>1685</Words>
  <Application>Microsoft Office PowerPoint</Application>
  <PresentationFormat>Widescreen</PresentationFormat>
  <Paragraphs>164</Paragraphs>
  <Slides>17</Slides>
  <Notes>17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Association Rule Mining for Diabetes Hospital Readmission Patterns</dc:title>
  <dc:subject>PptxGenJS Presentation</dc:subject>
  <dc:creator>Student</dc:creator>
  <cp:lastModifiedBy>uroojsyeduni@gmail.com</cp:lastModifiedBy>
  <cp:revision>4</cp:revision>
  <dcterms:created xsi:type="dcterms:W3CDTF">2026-06-21T22:46:17Z</dcterms:created>
  <dcterms:modified xsi:type="dcterms:W3CDTF">2026-06-22T02:52:27Z</dcterms:modified>
</cp:coreProperties>
</file>